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1675"/>
  <p:notesSz cx="6858000" cy="12191675"/>
  <p:embeddedFontLst>
    <p:embeddedFont>
      <p:font typeface="Fraunces Medium"/>
      <p:regular r:id="rId20"/>
      <p:bold r:id="rId21"/>
      <p:italic r:id="rId22"/>
      <p:boldItalic r:id="rId23"/>
    </p:embeddedFont>
    <p:embeddedFont>
      <p:font typeface="Epilog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uncesMedium-regular.fntdata"/><Relationship Id="rId22" Type="http://schemas.openxmlformats.org/officeDocument/2006/relationships/font" Target="fonts/FrauncesMedium-italic.fntdata"/><Relationship Id="rId21" Type="http://schemas.openxmlformats.org/officeDocument/2006/relationships/font" Target="fonts/FrauncesMedium-bold.fntdata"/><Relationship Id="rId24" Type="http://schemas.openxmlformats.org/officeDocument/2006/relationships/font" Target="fonts/Epilogue-regular.fntdata"/><Relationship Id="rId23" Type="http://schemas.openxmlformats.org/officeDocument/2006/relationships/font" Target="fonts/Fraunces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pilogue-italic.fntdata"/><Relationship Id="rId25" Type="http://schemas.openxmlformats.org/officeDocument/2006/relationships/font" Target="fonts/Epilogue-bold.fntdata"/><Relationship Id="rId27" Type="http://schemas.openxmlformats.org/officeDocument/2006/relationships/font" Target="fonts/Epilog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661475" y="2458442"/>
            <a:ext cx="2820024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CSE437 · DATA SCIENCE · WEEK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661475" y="276453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Qualitative Data Analysis Methods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661475" y="3638649"/>
            <a:ext cx="10868745" cy="8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DE9E5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CDE9E5"/>
                </a:solidFill>
                <a:latin typeface="Epilogue"/>
                <a:ea typeface="Epilogue"/>
                <a:cs typeface="Epilogue"/>
                <a:sym typeface="Epilogue"/>
              </a:rPr>
              <a:t>Turning words, voices, and open-ended text into evidence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9FC7C2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9FC7C2"/>
                </a:solidFill>
                <a:latin typeface="Epilogue"/>
                <a:ea typeface="Epilogue"/>
                <a:cs typeface="Epilogue"/>
                <a:sym typeface="Epilogue"/>
              </a:rPr>
              <a:t>Md. Sabbir Ahmed · Department of CSE, BRAC University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661475" y="1431429"/>
            <a:ext cx="1427524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MOTIVATION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661475" y="1737519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Why qualitative analysis in a data science course?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20228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/>
          <p:nvPr/>
        </p:nvSpPr>
        <p:spPr>
          <a:xfrm>
            <a:off x="1275723" y="3267174"/>
            <a:ext cx="285117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Most real-world data is unstructured text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1275723" y="3971131"/>
            <a:ext cx="2851178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App reviews, support tickets, interview transcripts, open-ended survey answers. Numbers tell you what happened; text tells you why.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320228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4977383" y="3267174"/>
            <a:ext cx="285117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Two project tracks, one skill set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977383" y="3971131"/>
            <a:ext cx="2851178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Human-participant projects need it for interviews and surveys. Dataset/ML projects need it for labeling, taxonomy design, and error analysis.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320228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8679042" y="3267174"/>
            <a:ext cx="285117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It feeds quantitative work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8679042" y="3971131"/>
            <a:ext cx="2851178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Codes become labels. Themes become features and categories. Qualitative analysis is often step zero of a supervised learning pipeline.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661475" y="1321792"/>
            <a:ext cx="1564641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FOUNDATIONS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661475" y="162788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Qualitative vs quantitative data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61475" y="2501999"/>
            <a:ext cx="5339820" cy="2575818"/>
          </a:xfrm>
          <a:prstGeom prst="roundRect">
            <a:avLst>
              <a:gd fmla="val 308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856832" y="2697361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Qualitative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856832" y="3106043"/>
            <a:ext cx="4949106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Words, images, audio, behaviour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Answers why and how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Meaning, context, experience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Small-N, depth over breadth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Analysis: coding, themes, narratives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6190301" y="2501999"/>
            <a:ext cx="5339919" cy="2575818"/>
          </a:xfrm>
          <a:prstGeom prst="roundRect">
            <a:avLst>
              <a:gd fmla="val 308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6385658" y="2697361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Quantitative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6385658" y="3106043"/>
            <a:ext cx="4949205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Numbers, counts, measurements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Answers how many and how much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Magnitude, frequency, correlation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Large-N, breadth over depth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Analysis: statistics, models, tests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356682" y="5290443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Most strong studies are mixed-methods: qualitative to discover, quantitative to confirm.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661475" y="764580"/>
            <a:ext cx="1564641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FOUNDATIONS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661475" y="107067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Where does qualitative data come from?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44787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/>
          <p:nvPr/>
        </p:nvSpPr>
        <p:spPr>
          <a:xfrm>
            <a:off x="1456495" y="1944787"/>
            <a:ext cx="174491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Interviews &amp; focus groups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1456495" y="2648744"/>
            <a:ext cx="1744917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Semi-structured transcripts; the classic human-participant source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7645" y="1944787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4232665" y="1944787"/>
            <a:ext cx="174501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Open-ended survey answers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4232665" y="2648744"/>
            <a:ext cx="174501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"What frustrated you most?" free-text fields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3915" y="1944787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7008935" y="1944787"/>
            <a:ext cx="174501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App reviews &amp; social posts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7008935" y="2648744"/>
            <a:ext cx="174501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Play Store reviews, tweets, Facebook comments — scraped at scale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0184" y="1944787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9785204" y="1944787"/>
            <a:ext cx="174501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Support tickets &amp; chat logs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9785204" y="2648744"/>
            <a:ext cx="174501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Naturally occurring complaints and requests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4236442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1456495" y="4236442"/>
            <a:ext cx="174491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Observation &amp; field notes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456495" y="4940399"/>
            <a:ext cx="174491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Usability sessions, think-aloud protocols, diaries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7645" y="4236442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4232665" y="4236442"/>
            <a:ext cx="174501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Documents &amp; artefacts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232665" y="4940399"/>
            <a:ext cx="174501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Policies, forum threads, commit messages, screenshots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661475" y="1224062"/>
            <a:ext cx="1443101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BIG PICTURE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661475" y="153015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0B3C49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The qualitative analysis pipeline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661475" y="2404269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875881" y="2618680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Collect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875881" y="3027363"/>
            <a:ext cx="306806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Interviews, surveys, scraped reviews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347359" y="2404269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4561766" y="2618680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Prepare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561766" y="3027363"/>
            <a:ext cx="306806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Transcribe, clean, anonymise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033244" y="2404269"/>
            <a:ext cx="3496877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8247650" y="2618680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Code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247650" y="3027363"/>
            <a:ext cx="306806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Tag segments with short labels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661475" y="4035623"/>
            <a:ext cx="5339820" cy="1139924"/>
          </a:xfrm>
          <a:prstGeom prst="roundRect">
            <a:avLst>
              <a:gd fmla="val 6964" name="adj"/>
            </a:avLst>
          </a:prstGeom>
          <a:solidFill>
            <a:srgbClr val="080E26"/>
          </a:solidFill>
          <a:ln cap="flat" cmpd="sng" w="253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875881" y="4250035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Theme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875881" y="4658717"/>
            <a:ext cx="491100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Group codes into patterns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6190301" y="4035623"/>
            <a:ext cx="5339820" cy="1139924"/>
          </a:xfrm>
          <a:prstGeom prst="roundRect">
            <a:avLst>
              <a:gd fmla="val 696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6404708" y="4250035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Report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404708" y="4658717"/>
            <a:ext cx="491100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Themes + quotes + counts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356682" y="5388173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028090"/>
                </a:solidFill>
                <a:latin typeface="Epilogue"/>
                <a:ea typeface="Epilogue"/>
                <a:cs typeface="Epilogue"/>
                <a:sym typeface="Epilogue"/>
              </a:rPr>
              <a:t>Today's focus: steps 3 and 4 — coding and themes. That is where the analysis actually happens.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661475" y="646013"/>
            <a:ext cx="1148230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CODING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61475" y="95210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What is a code?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661475" y="182622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 code is a short label that captures the essence of a segment of data.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661475" y="2511326"/>
            <a:ext cx="694632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50"/>
              <a:buFont typeface="Epilogue"/>
              <a:buNone/>
            </a:pPr>
            <a:r>
              <a:rPr b="1" i="0" lang="en-US" sz="1450" u="none" cap="none" strike="noStrike">
                <a:solidFill>
                  <a:srgbClr val="00A896"/>
                </a:solidFill>
                <a:latin typeface="Epilogue"/>
                <a:ea typeface="Epilogue"/>
                <a:cs typeface="Epilogue"/>
                <a:sym typeface="Epilogue"/>
              </a:rPr>
              <a:t>Play Store review of an MFS app (running example)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661475" y="3026370"/>
            <a:ext cx="25399" cy="1247378"/>
          </a:xfrm>
          <a:prstGeom prst="roundRect">
            <a:avLst>
              <a:gd fmla="val 60001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944936" y="3196431"/>
            <a:ext cx="605328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"I wanted to send money to my mother in the village but </a:t>
            </a:r>
            <a:r>
              <a:rPr b="1" i="1" lang="en-US" sz="1450" u="none" cap="none" strike="noStrike">
                <a:solidFill>
                  <a:srgbClr val="028090"/>
                </a:solidFill>
                <a:latin typeface="Epilogue"/>
                <a:ea typeface="Epilogue"/>
                <a:cs typeface="Epilogue"/>
                <a:sym typeface="Epilogue"/>
              </a:rPr>
              <a:t>the OTP never arrived</a:t>
            </a: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. I tried three times and </a:t>
            </a:r>
            <a:r>
              <a:rPr b="1" i="1" lang="en-US" sz="1450" u="none" cap="none" strike="noStrike">
                <a:solidFill>
                  <a:srgbClr val="B8503A"/>
                </a:solidFill>
                <a:latin typeface="Epilogue"/>
                <a:ea typeface="Epilogue"/>
                <a:cs typeface="Epilogue"/>
                <a:sym typeface="Epilogue"/>
              </a:rPr>
              <a:t>got charged anyway</a:t>
            </a: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. Now I am </a:t>
            </a:r>
            <a:r>
              <a:rPr b="1" i="1" lang="en-US" sz="1450" u="none" cap="none" strike="noStrike">
                <a:solidFill>
                  <a:srgbClr val="0B3C49"/>
                </a:solidFill>
                <a:latin typeface="Epilogue"/>
                <a:ea typeface="Epilogue"/>
                <a:cs typeface="Epilogue"/>
                <a:sym typeface="Epilogue"/>
              </a:rPr>
              <a:t>scared to use the app for big amounts</a:t>
            </a: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."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7465727" y="2511326"/>
            <a:ext cx="468032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1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Codes assigned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7465727" y="3026370"/>
            <a:ext cx="4070744" cy="712192"/>
          </a:xfrm>
          <a:prstGeom prst="roundRect">
            <a:avLst>
              <a:gd fmla="val 11147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7661083" y="3221732"/>
            <a:ext cx="3680031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OTP-FAILURE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7465727" y="3927574"/>
            <a:ext cx="4070744" cy="712192"/>
          </a:xfrm>
          <a:prstGeom prst="roundRect">
            <a:avLst>
              <a:gd fmla="val 11147" name="adj"/>
            </a:avLst>
          </a:prstGeom>
          <a:solidFill>
            <a:srgbClr val="B8503A"/>
          </a:solidFill>
          <a:ln cap="flat" cmpd="sng" w="9525">
            <a:solidFill>
              <a:srgbClr val="D169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7661083" y="4122936"/>
            <a:ext cx="3680031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UNEXPECTED-CHARGE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465727" y="4828778"/>
            <a:ext cx="4070744" cy="712192"/>
          </a:xfrm>
          <a:prstGeom prst="roundRect">
            <a:avLst>
              <a:gd fmla="val 11147" name="adj"/>
            </a:avLst>
          </a:prstGeom>
          <a:solidFill>
            <a:srgbClr val="0B3C49"/>
          </a:solidFill>
          <a:ln cap="flat" cmpd="sng" w="9525">
            <a:solidFill>
              <a:srgbClr val="2455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7661083" y="5024140"/>
            <a:ext cx="3680031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TRUST-EROSION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661475" y="5966222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One segment can carry multiple codes. Codes are analyst-made, not machine-given.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/>
          <p:nvPr/>
        </p:nvSpPr>
        <p:spPr>
          <a:xfrm>
            <a:off x="661475" y="1302742"/>
            <a:ext cx="1148230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CODING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661475" y="160883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Two ways to build a codebook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661475" y="2482949"/>
            <a:ext cx="5339820" cy="2613918"/>
          </a:xfrm>
          <a:prstGeom prst="roundRect">
            <a:avLst>
              <a:gd fmla="val 303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"/>
          <p:cNvSpPr/>
          <p:nvPr/>
        </p:nvSpPr>
        <p:spPr>
          <a:xfrm>
            <a:off x="875881" y="2697361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Deductive (top-down)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875881" y="3106043"/>
            <a:ext cx="4911007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Codes defined before reading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From theory, literature, or research questions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Example: usability heuristics as codes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Fast, comparable across studies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Risk: you only find what you look for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6190301" y="2482949"/>
            <a:ext cx="5339919" cy="2613918"/>
          </a:xfrm>
          <a:prstGeom prst="roundRect">
            <a:avLst>
              <a:gd fmla="val 303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6404708" y="2697361"/>
            <a:ext cx="4911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Inductive (bottom-up)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6404708" y="3106043"/>
            <a:ext cx="4911106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Codes emerge while reading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Open coding: label what you actually see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Example: OTP-FAILURE emerged from reviews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Captures the unexpected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Risk: slower, needs iteration and merging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356682" y="5309493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028090"/>
                </a:solidFill>
                <a:latin typeface="Epilogue"/>
                <a:ea typeface="Epilogue"/>
                <a:cs typeface="Epilogue"/>
                <a:sym typeface="Epilogue"/>
              </a:rPr>
              <a:t>In practice: hybrid. Start with a small deductive skeleton, extend inductively as surprises appear.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/>
          <p:nvPr/>
        </p:nvSpPr>
        <p:spPr>
          <a:xfrm>
            <a:off x="661475" y="568027"/>
            <a:ext cx="1723287" cy="11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750"/>
              <a:buFont typeface="Epilogue"/>
              <a:buNone/>
            </a:pPr>
            <a:r>
              <a:rPr b="0" i="0" lang="en-US" sz="7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FROM CODES TO THEMES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661475" y="749697"/>
            <a:ext cx="108687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unces Medium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Thematic analysis (Braun &amp; Clarke, 2006)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253430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/>
          <p:nvPr/>
        </p:nvSpPr>
        <p:spPr>
          <a:xfrm>
            <a:off x="824586" y="1506835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1245363" y="1388963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Familiarise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1245363" y="1628775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Read and re-read; note first 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70298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/>
          <p:nvPr/>
        </p:nvSpPr>
        <p:spPr>
          <a:xfrm>
            <a:off x="824586" y="2323703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1245363" y="2205831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Generate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1245363" y="2445643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Systematically code the full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887166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2"/>
          <p:cNvSpPr/>
          <p:nvPr/>
        </p:nvSpPr>
        <p:spPr>
          <a:xfrm>
            <a:off x="824586" y="3140571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1245363" y="3022699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Search for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1245363" y="3262511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Cluster related codes into candidate themes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704034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2"/>
          <p:cNvSpPr/>
          <p:nvPr/>
        </p:nvSpPr>
        <p:spPr>
          <a:xfrm>
            <a:off x="824586" y="3957439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1245363" y="3839567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Review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245363" y="4079379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Check themes against coded data and full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520902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2"/>
          <p:cNvSpPr/>
          <p:nvPr/>
        </p:nvSpPr>
        <p:spPr>
          <a:xfrm>
            <a:off x="824586" y="4774307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245363" y="4656435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Define &amp;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245363" y="4896247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Sharpen what each theme is and is not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5337770"/>
            <a:ext cx="10868745" cy="737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2"/>
          <p:cNvSpPr/>
          <p:nvPr/>
        </p:nvSpPr>
        <p:spPr>
          <a:xfrm>
            <a:off x="824586" y="5591175"/>
            <a:ext cx="184245" cy="2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Fraunces Medium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1245363" y="5473303"/>
            <a:ext cx="1014932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Write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1245363" y="5713115"/>
            <a:ext cx="10149328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Themes, vivid quotes, analytic narrative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356682" y="6164659"/>
            <a:ext cx="11478330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1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Iterative, not linear: expect to loop between phases 2–4.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/>
          <p:nvPr/>
        </p:nvSpPr>
        <p:spPr>
          <a:xfrm>
            <a:off x="661475" y="782439"/>
            <a:ext cx="2322851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FROM CODES TO THEMES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661475" y="108852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0B3C49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Worked example: MFS reviews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61475" y="2132707"/>
            <a:ext cx="52468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1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Codes (from many reviews)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661475" y="2647752"/>
            <a:ext cx="2224131" cy="1071761"/>
          </a:xfrm>
          <a:prstGeom prst="roundRect">
            <a:avLst>
              <a:gd fmla="val 74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875881" y="2862163"/>
            <a:ext cx="179531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OTP-FAILURE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074613" y="2647752"/>
            <a:ext cx="2224131" cy="1071761"/>
          </a:xfrm>
          <a:prstGeom prst="roundRect">
            <a:avLst>
              <a:gd fmla="val 74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3289019" y="2862163"/>
            <a:ext cx="1795318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UNEXPECTED-CHARGE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661475" y="3908524"/>
            <a:ext cx="2224131" cy="1071761"/>
          </a:xfrm>
          <a:prstGeom prst="roundRect">
            <a:avLst>
              <a:gd fmla="val 74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875881" y="4122936"/>
            <a:ext cx="1795318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AGENT-OVERCHARGING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3074613" y="3908524"/>
            <a:ext cx="2224131" cy="1071761"/>
          </a:xfrm>
          <a:prstGeom prst="roundRect">
            <a:avLst>
              <a:gd fmla="val 74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3289019" y="4122936"/>
            <a:ext cx="179531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NO-REFUND-PATH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661475" y="5169297"/>
            <a:ext cx="2224131" cy="750292"/>
          </a:xfrm>
          <a:prstGeom prst="roundRect">
            <a:avLst>
              <a:gd fmla="val 10581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875881" y="5383709"/>
            <a:ext cx="179531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TRUST-EROSION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074613" y="5169297"/>
            <a:ext cx="2224131" cy="750292"/>
          </a:xfrm>
          <a:prstGeom prst="roundRect">
            <a:avLst>
              <a:gd fmla="val 10581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3289019" y="5383709"/>
            <a:ext cx="179531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highlight>
                  <a:srgbClr val="151B33"/>
                </a:highlight>
                <a:latin typeface="Consolas"/>
                <a:ea typeface="Consolas"/>
                <a:cs typeface="Consolas"/>
                <a:sym typeface="Consolas"/>
              </a:rPr>
              <a:t>SWITCH-TO-CASH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5630126" y="1962646"/>
            <a:ext cx="6042469" cy="4169569"/>
          </a:xfrm>
          <a:prstGeom prst="roundRect">
            <a:avLst>
              <a:gd fmla="val 326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5819133" y="2231926"/>
            <a:ext cx="107699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THEME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819133" y="2538016"/>
            <a:ext cx="5664455" cy="708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Fraunces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"Financial uncertainty drives users back to cash"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5819133" y="3435846"/>
            <a:ext cx="566445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Failures are tolerated; losing money without recourse is not. When charges feel unpredictable, users abandon digital payments for high-stakes transfers.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/>
          <p:nvPr/>
        </p:nvSpPr>
        <p:spPr>
          <a:xfrm>
            <a:off x="661475" y="1435993"/>
            <a:ext cx="1638160" cy="11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750"/>
              <a:buFont typeface="Epilogue"/>
              <a:buNone/>
            </a:pPr>
            <a:r>
              <a:rPr b="0" i="0" lang="en-US" sz="7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BRIDGING TO NUMBERS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661475" y="1617662"/>
            <a:ext cx="108687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2400"/>
              <a:buFont typeface="Fraunces Medium"/>
              <a:buNone/>
            </a:pPr>
            <a:r>
              <a:rPr b="0" i="0" lang="en-US" sz="2400" u="none" cap="none" strike="noStrike">
                <a:solidFill>
                  <a:srgbClr val="0B3C49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Content analysis: counting the coded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661475" y="2121396"/>
            <a:ext cx="11478330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Once a codebook is stable, apply it systematically and count. Frequencies turn qualitative insight into quantitative evidence.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661475" y="2499916"/>
            <a:ext cx="3197840" cy="11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750"/>
              <a:buFont typeface="Epilogue"/>
              <a:buNone/>
            </a:pPr>
            <a:r>
              <a:rPr b="0" i="0" lang="en-US" sz="7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CODE FREQUENCY — 500 MFS APP REVIEWS (ILLUSTRATIVE)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661475" y="2800945"/>
            <a:ext cx="1450939" cy="153491"/>
          </a:xfrm>
          <a:prstGeom prst="roundRect">
            <a:avLst>
              <a:gd fmla="val 33619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661475" y="2800945"/>
            <a:ext cx="371763" cy="153491"/>
          </a:xfrm>
          <a:prstGeom prst="roundRect">
            <a:avLst>
              <a:gd fmla="val 3361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2204486" y="2800846"/>
            <a:ext cx="504912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41/160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661475" y="3075682"/>
            <a:ext cx="315071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SWITCH-TO-CASH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61475" y="3347442"/>
            <a:ext cx="3150712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41 occurrences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3911998" y="2800945"/>
            <a:ext cx="1428516" cy="153491"/>
          </a:xfrm>
          <a:prstGeom prst="roundRect">
            <a:avLst>
              <a:gd fmla="val 33619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3911998" y="2800945"/>
            <a:ext cx="571386" cy="153491"/>
          </a:xfrm>
          <a:prstGeom prst="roundRect">
            <a:avLst>
              <a:gd fmla="val 3361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5432587" y="2800846"/>
            <a:ext cx="527434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64/160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3911998" y="3075682"/>
            <a:ext cx="3150811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NO-REFUND-PATH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3911998" y="3347442"/>
            <a:ext cx="3150811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64 occurrences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61475" y="3730625"/>
            <a:ext cx="1443894" cy="153491"/>
          </a:xfrm>
          <a:prstGeom prst="roundRect">
            <a:avLst>
              <a:gd fmla="val 33619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61475" y="3730625"/>
            <a:ext cx="785098" cy="153491"/>
          </a:xfrm>
          <a:prstGeom prst="roundRect">
            <a:avLst>
              <a:gd fmla="val 3361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2197442" y="3730526"/>
            <a:ext cx="511956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87/160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61475" y="4005362"/>
            <a:ext cx="315071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AGENT-OVERCHARGING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661475" y="4277122"/>
            <a:ext cx="3150712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87 occurrences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3911998" y="3730625"/>
            <a:ext cx="1382579" cy="153491"/>
          </a:xfrm>
          <a:prstGeom prst="roundRect">
            <a:avLst>
              <a:gd fmla="val 33619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3911998" y="3730625"/>
            <a:ext cx="1019646" cy="153491"/>
          </a:xfrm>
          <a:prstGeom prst="roundRect">
            <a:avLst>
              <a:gd fmla="val 3361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5386650" y="3730526"/>
            <a:ext cx="573371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118/160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911998" y="4005362"/>
            <a:ext cx="3150811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UNEXPECTED-CHARGE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3911998" y="4277122"/>
            <a:ext cx="3150811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118 occurrences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61475" y="4660305"/>
            <a:ext cx="1357874" cy="153491"/>
          </a:xfrm>
          <a:prstGeom prst="roundRect">
            <a:avLst>
              <a:gd fmla="val 33619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661475" y="4660305"/>
            <a:ext cx="1205081" cy="153491"/>
          </a:xfrm>
          <a:prstGeom prst="roundRect">
            <a:avLst>
              <a:gd fmla="val 3361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2111421" y="4660205"/>
            <a:ext cx="597976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142/160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61475" y="4935041"/>
            <a:ext cx="315071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200"/>
              <a:buFont typeface="Fraunces Medium"/>
              <a:buNone/>
            </a:pPr>
            <a:r>
              <a:rPr b="0" i="0" lang="en-US" sz="120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OTP-FAILURE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61475" y="5206802"/>
            <a:ext cx="3150712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142 occurrences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368792" y="2499916"/>
            <a:ext cx="1779345" cy="11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750"/>
              <a:buFont typeface="Epilogue"/>
              <a:buNone/>
            </a:pPr>
            <a:r>
              <a:rPr b="0" i="0" lang="en-US" sz="7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WHAT COUNTING ENABLES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7368792" y="2739529"/>
            <a:ext cx="4167679" cy="420489"/>
          </a:xfrm>
          <a:prstGeom prst="roundRect">
            <a:avLst>
              <a:gd fmla="val 1227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7497972" y="2868712"/>
            <a:ext cx="3909319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Compare groups (urban vs rural users)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7368792" y="3239790"/>
            <a:ext cx="4167679" cy="420489"/>
          </a:xfrm>
          <a:prstGeom prst="roundRect">
            <a:avLst>
              <a:gd fmla="val 1227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7497972" y="3368973"/>
            <a:ext cx="3909319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Track change over app 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7368792" y="3740051"/>
            <a:ext cx="4167679" cy="420489"/>
          </a:xfrm>
          <a:prstGeom prst="roundRect">
            <a:avLst>
              <a:gd fmla="val 1227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7497972" y="3869234"/>
            <a:ext cx="3909319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Prioritise fixes by prevalence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7368792" y="4240312"/>
            <a:ext cx="4167679" cy="420489"/>
          </a:xfrm>
          <a:prstGeom prst="roundRect">
            <a:avLst>
              <a:gd fmla="val 12272" name="adj"/>
            </a:avLst>
          </a:prstGeom>
          <a:solidFill>
            <a:srgbClr val="283157"/>
          </a:solidFill>
          <a:ln cap="flat" cmpd="sng" w="952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7497972" y="4369495"/>
            <a:ext cx="3909319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950"/>
              <a:buFont typeface="Epilogue"/>
              <a:buNone/>
            </a:pPr>
            <a:r>
              <a:rPr b="0" i="0" lang="en-US" sz="9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Feed labels into ML classifiers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661475" y="870843"/>
            <a:ext cx="584483" cy="258465"/>
          </a:xfrm>
          <a:prstGeom prst="roundRect">
            <a:avLst>
              <a:gd fmla="val 22115" name="adj"/>
            </a:avLst>
          </a:prstGeom>
          <a:solidFill>
            <a:srgbClr val="181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763469" y="921841"/>
            <a:ext cx="990079" cy="15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050"/>
              <a:buFont typeface="Epilogue"/>
              <a:buNone/>
            </a:pPr>
            <a:r>
              <a:rPr b="0" i="0" lang="en-US" sz="1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RIGOR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661475" y="1190526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B3C49"/>
              </a:buClr>
              <a:buSzPts val="3300"/>
              <a:buFont typeface="Fraunces Medium"/>
              <a:buNone/>
            </a:pPr>
            <a:r>
              <a:rPr b="0" i="0" lang="en-US" sz="3300" u="none" cap="none" strike="noStrike">
                <a:solidFill>
                  <a:srgbClr val="0B3C49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Inter-rater reliability: can two people agree?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661475" y="1951732"/>
            <a:ext cx="10868745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If codes will be counted or used as ML labels, at least two coders should code a sample independently. Cohen's kappa corrects raw agreement for chance.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661475" y="2813348"/>
            <a:ext cx="19050" cy="1028998"/>
          </a:xfrm>
          <a:prstGeom prst="roundRect">
            <a:avLst>
              <a:gd fmla="val 59999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916560" y="3007122"/>
            <a:ext cx="5581411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560" y="3007122"/>
            <a:ext cx="4971826" cy="29686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/>
          <p:nvPr/>
        </p:nvSpPr>
        <p:spPr>
          <a:xfrm>
            <a:off x="611768" y="3497759"/>
            <a:ext cx="5581411" cy="20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050"/>
              <a:buFont typeface="Epilogue"/>
              <a:buNone/>
            </a:pPr>
            <a:r>
              <a:rPr b="0" i="0" lang="en-US" sz="10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p₀ = observed agreement    pₑ = agreement expected by chance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309659" y="2813348"/>
            <a:ext cx="5226911" cy="2570758"/>
          </a:xfrm>
          <a:prstGeom prst="roundRect">
            <a:avLst>
              <a:gd fmla="val 2779" name="adj"/>
            </a:avLst>
          </a:prstGeom>
          <a:noFill/>
          <a:ln cap="flat" cmpd="sng" w="9525">
            <a:solidFill>
              <a:srgbClr val="FFFFFF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6309659" y="3277691"/>
            <a:ext cx="5226911" cy="1063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6309659" y="3738860"/>
            <a:ext cx="5226911" cy="1063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6309659" y="4200029"/>
            <a:ext cx="5226911" cy="1063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6309659" y="4661198"/>
            <a:ext cx="5226911" cy="10633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6316108" y="2819698"/>
            <a:ext cx="1824885" cy="45799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6486164" y="2917825"/>
            <a:ext cx="2094356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Epilogue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Epilogue"/>
                <a:ea typeface="Epilogue"/>
                <a:cs typeface="Epilogue"/>
                <a:sym typeface="Epilogue"/>
              </a:rPr>
              <a:t>κ range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8140992" y="2819698"/>
            <a:ext cx="3389228" cy="45799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8311049" y="2917825"/>
            <a:ext cx="3658699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Epilogue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Epilogue"/>
                <a:ea typeface="Epilogue"/>
                <a:cs typeface="Epilogue"/>
                <a:sym typeface="Epilogue"/>
              </a:rPr>
              <a:t>Interpretation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6486164" y="3378994"/>
            <a:ext cx="2094356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&lt; 0.40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8311049" y="3378994"/>
            <a:ext cx="3658699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Poor to fair — revise the codebook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6486164" y="3840163"/>
            <a:ext cx="2094356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0.40 – 0.60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311049" y="3840163"/>
            <a:ext cx="3658699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Moderate — discuss disagreements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486164" y="4301331"/>
            <a:ext cx="2094356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0.61 – 0.80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8311049" y="4301331"/>
            <a:ext cx="3658699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Substantial — generally acceptable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6486164" y="4762500"/>
            <a:ext cx="2094356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&gt; 0.80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8311049" y="4762500"/>
            <a:ext cx="3049114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300"/>
              <a:buFont typeface="Epilogue"/>
              <a:buNone/>
            </a:pPr>
            <a:r>
              <a:rPr b="0" i="0" lang="en-US" sz="13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Almost perfect — report with confidence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661475" y="5728593"/>
            <a:ext cx="114783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Epilogue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Epilogue"/>
                <a:ea typeface="Epilogue"/>
                <a:cs typeface="Epilogue"/>
                <a:sym typeface="Epilogue"/>
              </a:rPr>
              <a:t>Disagreement is data: it usually means a code definition is ambiguous. Refine the codebook, then re-code.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/>
          <p:nvPr/>
        </p:nvSpPr>
        <p:spPr>
          <a:xfrm>
            <a:off x="661475" y="1330325"/>
            <a:ext cx="1032246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RIGOR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61475" y="163641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What makes qualitative analysis trustworthy?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661475" y="2510532"/>
            <a:ext cx="5339820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875881" y="2724944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Saturation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875881" y="3133626"/>
            <a:ext cx="49110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Stop collecting when new data stops producing new codes. Report how you judged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6190301" y="2510532"/>
            <a:ext cx="5339919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6404708" y="2724944"/>
            <a:ext cx="4911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Triangulation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6404708" y="3133626"/>
            <a:ext cx="4911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Cross-check findings across sources, methods, or analysts.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661475" y="4141887"/>
            <a:ext cx="5339820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875881" y="4356298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Audit trail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875881" y="4764980"/>
            <a:ext cx="49110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Keep the codebook, memos, and versioned decisions so others can trace your reasoning.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6190301" y="4141887"/>
            <a:ext cx="5339919" cy="1442343"/>
          </a:xfrm>
          <a:prstGeom prst="roundRect">
            <a:avLst>
              <a:gd fmla="val 5504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6404708" y="4356298"/>
            <a:ext cx="4911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Reflexivity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6404708" y="4764980"/>
            <a:ext cx="4911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State your own position and assumptions; the analyst is the instrument.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/>
          <p:nvPr/>
        </p:nvSpPr>
        <p:spPr>
          <a:xfrm>
            <a:off x="661475" y="813098"/>
            <a:ext cx="126560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C98CA"/>
              </a:buClr>
              <a:buSzPts val="1150"/>
              <a:buFont typeface="Epilogue"/>
              <a:buNone/>
            </a:pPr>
            <a:r>
              <a:rPr b="0" i="0" lang="en-US" sz="1150" u="none" cap="none" strike="noStrike">
                <a:solidFill>
                  <a:srgbClr val="8C98CA"/>
                </a:solidFill>
                <a:latin typeface="Epilogue"/>
                <a:ea typeface="Epilogue"/>
                <a:cs typeface="Epilogue"/>
                <a:sym typeface="Epilogue"/>
              </a:rPr>
              <a:t>PRACTICE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61475" y="111918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Tools of the trade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9330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/>
          <p:nvPr/>
        </p:nvSpPr>
        <p:spPr>
          <a:xfrm>
            <a:off x="1275723" y="2058194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Spreadsheets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275723" y="2466876"/>
            <a:ext cx="470195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One row per segment, one column per code. Free, transparent, enough for course projects.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3915" y="1993305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7"/>
          <p:cNvSpPr/>
          <p:nvPr/>
        </p:nvSpPr>
        <p:spPr>
          <a:xfrm>
            <a:off x="6828163" y="2058194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Taguette / QualCoder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6828163" y="2466876"/>
            <a:ext cx="470205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Free, open-source coding tools. Good starting point.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449737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/>
          <p:cNvSpPr/>
          <p:nvPr/>
        </p:nvSpPr>
        <p:spPr>
          <a:xfrm>
            <a:off x="1275723" y="3514626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NVivo / ATLAS.ti / MAXQDA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275723" y="3923308"/>
            <a:ext cx="470195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Industry-standard QDA software. Powerful, licensed.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3915" y="3449737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/>
          <p:nvPr/>
        </p:nvSpPr>
        <p:spPr>
          <a:xfrm>
            <a:off x="6828163" y="3514626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850"/>
              <a:buFont typeface="Fraunces Medium"/>
              <a:buNone/>
            </a:pPr>
            <a:r>
              <a:rPr b="0" i="0" lang="en-US" sz="1850" u="none" cap="none" strike="noStrike">
                <a:solidFill>
                  <a:srgbClr val="EBECE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Python (pandas + sklearn)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828163" y="3923308"/>
            <a:ext cx="470205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Compute kappa, code frequencies, and export labels for ML.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661475" y="4740771"/>
            <a:ext cx="10868745" cy="1360785"/>
          </a:xfrm>
          <a:prstGeom prst="roundRect">
            <a:avLst>
              <a:gd fmla="val 5834" name="adj"/>
            </a:avLst>
          </a:prstGeom>
          <a:solidFill>
            <a:srgbClr val="45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482" y="5008463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/>
          <p:nvPr/>
        </p:nvSpPr>
        <p:spPr>
          <a:xfrm>
            <a:off x="1275723" y="4977011"/>
            <a:ext cx="10065490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B8503A"/>
              </a:buClr>
              <a:buSzPts val="1450"/>
              <a:buFont typeface="Epilogue"/>
              <a:buNone/>
            </a:pPr>
            <a:r>
              <a:rPr b="1" i="0" lang="en-US" sz="1450" u="none" cap="none" strike="noStrike">
                <a:solidFill>
                  <a:srgbClr val="B8503A"/>
                </a:solidFill>
                <a:latin typeface="Epilogue"/>
                <a:ea typeface="Epilogue"/>
                <a:cs typeface="Epilogue"/>
                <a:sym typeface="Epilogue"/>
              </a:rPr>
              <a:t>LLMs as coding assistants:</a:t>
            </a:r>
            <a:r>
              <a:rPr b="0" i="0" lang="en-US" sz="145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 useful for a first pass, but they inherit biases, miss cultural nuance (especially Bangla-English code-mixed text), and cannot be your only coder. Human validation and reported reliability remain mandatory.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/>
          <p:nvPr/>
        </p:nvSpPr>
        <p:spPr>
          <a:xfrm>
            <a:off x="661475" y="635695"/>
            <a:ext cx="956842" cy="272752"/>
          </a:xfrm>
          <a:prstGeom prst="roundRect">
            <a:avLst>
              <a:gd fmla="val 22121" name="adj"/>
            </a:avLst>
          </a:prstGeom>
          <a:solidFill>
            <a:srgbClr val="181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769125" y="689471"/>
            <a:ext cx="1351127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100"/>
              <a:buFont typeface="Epilogue"/>
              <a:buNone/>
            </a:pPr>
            <a:r>
              <a:rPr b="0" i="0" lang="en-US" sz="11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YOUR TURN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661475" y="976610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raunces Medium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5-minute coding exercise (pairs)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61475" y="1985566"/>
            <a:ext cx="3370377" cy="1981200"/>
          </a:xfrm>
          <a:prstGeom prst="roundRect">
            <a:avLst>
              <a:gd fmla="val 38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866356" y="2190452"/>
            <a:ext cx="296061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750"/>
              <a:buFont typeface="Fraunces Medium"/>
              <a:buNone/>
            </a:pPr>
            <a:r>
              <a:rPr b="0" i="0" lang="en-US" sz="1750" u="none" cap="none" strike="noStrike">
                <a:solidFill>
                  <a:srgbClr val="00A896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R1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866356" y="2641501"/>
            <a:ext cx="2960613" cy="1120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1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"App is fine but every update the login changes and my father cannot use it anymore. I have to visit him to fix it."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4202404" y="1985566"/>
            <a:ext cx="3370377" cy="1981200"/>
          </a:xfrm>
          <a:prstGeom prst="roundRect">
            <a:avLst>
              <a:gd fmla="val 38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4407286" y="2190452"/>
            <a:ext cx="296061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750"/>
              <a:buFont typeface="Fraunces Medium"/>
              <a:buNone/>
            </a:pPr>
            <a:r>
              <a:rPr b="0" i="0" lang="en-US" sz="1750" u="none" cap="none" strike="noStrike">
                <a:solidFill>
                  <a:srgbClr val="00A896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R2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407286" y="2641501"/>
            <a:ext cx="2960613" cy="1120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1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"Cashback offer showed 50 taka but I received nothing. Customer care kept me on hold for 20 minutes then cut the line."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661475" y="4137323"/>
            <a:ext cx="6911306" cy="1421011"/>
          </a:xfrm>
          <a:prstGeom prst="roundRect">
            <a:avLst>
              <a:gd fmla="val 5307" name="adj"/>
            </a:avLst>
          </a:prstGeom>
          <a:solidFill>
            <a:srgbClr val="080E26"/>
          </a:solidFill>
          <a:ln cap="flat" cmpd="sng" w="25375">
            <a:solidFill>
              <a:srgbClr val="41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866356" y="4342209"/>
            <a:ext cx="650154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750"/>
              <a:buFont typeface="Fraunces Medium"/>
              <a:buNone/>
            </a:pPr>
            <a:r>
              <a:rPr b="0" i="0" lang="en-US" sz="1750" u="none" cap="none" strike="noStrike">
                <a:solidFill>
                  <a:srgbClr val="00A896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R3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866356" y="4793258"/>
            <a:ext cx="6501543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1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"I love the bill-pay feature. But the app asks for so many permissions — why does it need my contacts and location?"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887892" y="1793677"/>
            <a:ext cx="3777957" cy="3956546"/>
          </a:xfrm>
          <a:prstGeom prst="roundRect">
            <a:avLst>
              <a:gd fmla="val 3422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8067374" y="1964234"/>
            <a:ext cx="341899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raunces Medium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Tasks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8067374" y="2415282"/>
            <a:ext cx="3418993" cy="129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pilogue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Assign 1–3 codes per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pilogue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Compare with your partner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pilogue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Where did you disagree, and why?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pilogue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rPr>
              <a:t>Propose one candidate theme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661475" y="5942112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00"/>
              <a:buFont typeface="Epilogue"/>
              <a:buNone/>
            </a:pPr>
            <a:r>
              <a:rPr b="0" i="1" lang="en-US" sz="140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Notice: your disagreements are exactly what a codebook and kappa are for.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/>
          <p:nvPr/>
        </p:nvSpPr>
        <p:spPr>
          <a:xfrm>
            <a:off x="661475" y="179893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Fraunces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Fraunces Medium"/>
                <a:ea typeface="Fraunces Medium"/>
                <a:cs typeface="Fraunces Medium"/>
                <a:sym typeface="Fraunces Medium"/>
              </a:rPr>
              <a:t>Five things to keep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61475" y="2767608"/>
            <a:ext cx="10868745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Qualitative data answers why; it complements, not competes with, your models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Coding is the core skill: short labels, right granularity, applied consistently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Themes are interpretive claims, not topic labels (Braun &amp; Clarke's 6 phases)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Counting codes bridges to quantitative work — but only with a reliable codebook (κ)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Char char="•"/>
            </a:pPr>
            <a:r>
              <a:rPr b="0" i="0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Rigor = saturation, triangulation, audit trail, and honest use of LLM assistance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61475" y="4756646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BECEF"/>
              </a:buClr>
              <a:buSzPts val="1450"/>
              <a:buFont typeface="Epilogue"/>
              <a:buNone/>
            </a:pPr>
            <a:r>
              <a:rPr b="0" i="1" lang="en-US" sz="1450" u="none" cap="none" strike="noStrike">
                <a:solidFill>
                  <a:srgbClr val="EBECEF"/>
                </a:solidFill>
                <a:latin typeface="Epilogue"/>
                <a:ea typeface="Epilogue"/>
                <a:cs typeface="Epilogue"/>
                <a:sym typeface="Epilogue"/>
              </a:rPr>
              <a:t>Next: apply this in your project track — interview coding (human-participant) or label taxonomy design (dataset/ML).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