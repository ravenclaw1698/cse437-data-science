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74" r:id="rId3"/>
    <p:sldId id="375" r:id="rId4"/>
    <p:sldId id="326" r:id="rId5"/>
    <p:sldId id="376" r:id="rId6"/>
    <p:sldId id="377" r:id="rId7"/>
    <p:sldId id="378" r:id="rId8"/>
    <p:sldId id="379" r:id="rId9"/>
    <p:sldId id="381" r:id="rId10"/>
    <p:sldId id="382" r:id="rId11"/>
    <p:sldId id="383" r:id="rId12"/>
    <p:sldId id="384" r:id="rId13"/>
    <p:sldId id="385" r:id="rId14"/>
    <p:sldId id="386" r:id="rId15"/>
    <p:sldId id="387" r:id="rId16"/>
    <p:sldId id="402" r:id="rId17"/>
    <p:sldId id="397" r:id="rId18"/>
    <p:sldId id="398" r:id="rId19"/>
    <p:sldId id="399" r:id="rId20"/>
    <p:sldId id="400" r:id="rId21"/>
    <p:sldId id="390" r:id="rId22"/>
    <p:sldId id="401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380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310" autoAdjust="0"/>
  </p:normalViewPr>
  <p:slideViewPr>
    <p:cSldViewPr snapToGrid="0" snapToObjects="1">
      <p:cViewPr>
        <p:scale>
          <a:sx n="94" d="100"/>
          <a:sy n="94" d="100"/>
        </p:scale>
        <p:origin x="-534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C528A-2840-4D44-B555-676416309C72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93057-5528-3549-89E2-97C5373A7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3055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72754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5420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7418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895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5376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4300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0006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5318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702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7022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0105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0923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3232" y="1344168"/>
            <a:ext cx="8570912" cy="4965192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313263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7BA4D-BDFF-F24E-907E-043511FE760B}" type="datetimeFigureOut">
              <a:rPr lang="en-US" smtClean="0"/>
              <a:pPr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26B24-75D0-AA44-8B70-EF5687818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77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thsisfun.com/mean.html" TargetMode="External"/><Relationship Id="rId3" Type="http://schemas.openxmlformats.org/officeDocument/2006/relationships/hyperlink" Target="https://en.wikipedia.org/wiki/Probability_density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0" Type="http://schemas.openxmlformats.org/officeDocument/2006/relationships/hyperlink" Target="https://www.mathsisfun.com/mode.html" TargetMode="External"/><Relationship Id="rId4" Type="http://schemas.openxmlformats.org/officeDocument/2006/relationships/image" Target="../media/image27.png"/><Relationship Id="rId9" Type="http://schemas.openxmlformats.org/officeDocument/2006/relationships/hyperlink" Target="https://www.mathsisfun.com/media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iRVUkM92o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benalexkeen.com/correlation-in-python/" TargetMode="External"/><Relationship Id="rId2" Type="http://schemas.openxmlformats.org/officeDocument/2006/relationships/hyperlink" Target="https://www.mathsisfun.com/data/index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udemy.com/the-data-science-course-complete-data-science-bootcam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Process for Making Sense of Data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Lecture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Md. </a:t>
            </a:r>
            <a:r>
              <a:rPr lang="en-US" dirty="0" err="1" smtClean="0"/>
              <a:t>Golam</a:t>
            </a:r>
            <a:r>
              <a:rPr lang="en-US" dirty="0" smtClean="0"/>
              <a:t> </a:t>
            </a:r>
            <a:r>
              <a:rPr lang="en-US" dirty="0" err="1" smtClean="0"/>
              <a:t>Rabiul</a:t>
            </a:r>
            <a:r>
              <a:rPr lang="en-US" dirty="0" smtClean="0"/>
              <a:t> </a:t>
            </a:r>
            <a:r>
              <a:rPr lang="en-US" dirty="0" err="1" smtClean="0"/>
              <a:t>Alam</a:t>
            </a:r>
            <a:endParaRPr lang="en-US" dirty="0" smtClean="0"/>
          </a:p>
          <a:p>
            <a:r>
              <a:rPr lang="en-US" dirty="0" smtClean="0"/>
              <a:t>[Including slides from Prof. John Canny of UC, Berkeley]</a:t>
            </a:r>
          </a:p>
        </p:txBody>
      </p:sp>
    </p:spTree>
    <p:extLst>
      <p:ext uri="{BB962C8B-B14F-4D97-AF65-F5344CB8AC3E}">
        <p14:creationId xmlns="" xmlns:p14="http://schemas.microsoft.com/office/powerpoint/2010/main" val="108738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Measurement of  the strength of the relationship between two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AutoNum type="arabicParenR"/>
            </a:pPr>
            <a:r>
              <a:rPr lang="en-US" b="1" dirty="0" smtClean="0"/>
              <a:t>Correlation Coefficients: </a:t>
            </a:r>
          </a:p>
          <a:p>
            <a:pPr>
              <a:buNone/>
            </a:pPr>
            <a:r>
              <a:rPr lang="en-US" dirty="0" smtClean="0"/>
              <a:t>        The </a:t>
            </a:r>
            <a:r>
              <a:rPr lang="en-US" b="1" dirty="0" smtClean="0"/>
              <a:t>Correlation Coefficients</a:t>
            </a:r>
            <a:r>
              <a:rPr lang="en-US" dirty="0" smtClean="0"/>
              <a:t> (r) quantifies the </a:t>
            </a:r>
            <a:r>
              <a:rPr lang="en-US" i="1" dirty="0" smtClean="0"/>
              <a:t>linear relationship </a:t>
            </a:r>
            <a:r>
              <a:rPr lang="en-US" dirty="0" smtClean="0"/>
              <a:t>between the variables by generating values from −1.0 to +1.0.</a:t>
            </a:r>
          </a:p>
          <a:p>
            <a:r>
              <a:rPr lang="en-US" dirty="0" smtClean="0"/>
              <a:t>Positive numbers for </a:t>
            </a:r>
            <a:r>
              <a:rPr lang="en-US" i="1" dirty="0" smtClean="0"/>
              <a:t>r </a:t>
            </a:r>
            <a:r>
              <a:rPr lang="en-US" dirty="0" smtClean="0"/>
              <a:t>indicate a positive correlation between the pair of variables, and negative numbers indicate a negative correlation. </a:t>
            </a:r>
          </a:p>
          <a:p>
            <a:r>
              <a:rPr lang="en-US" dirty="0" smtClean="0"/>
              <a:t>A value of </a:t>
            </a:r>
            <a:r>
              <a:rPr lang="en-US" i="1" dirty="0" smtClean="0"/>
              <a:t>r close to 0 indicates </a:t>
            </a:r>
            <a:r>
              <a:rPr lang="en-US" dirty="0" smtClean="0"/>
              <a:t>little or no relationship between the variables.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i="1" dirty="0" smtClean="0"/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Here, x</a:t>
            </a:r>
            <a:r>
              <a:rPr lang="en-US" i="1" baseline="-25000" dirty="0" smtClean="0"/>
              <a:t>i </a:t>
            </a:r>
            <a:r>
              <a:rPr lang="en-US" i="1" dirty="0" smtClean="0"/>
              <a:t>are the individual values of x, </a:t>
            </a:r>
          </a:p>
          <a:p>
            <a:pPr>
              <a:buNone/>
            </a:pPr>
            <a:r>
              <a:rPr lang="en-US" i="1" dirty="0" smtClean="0"/>
              <a:t>          y</a:t>
            </a:r>
            <a:r>
              <a:rPr lang="en-US" i="1" baseline="-25000" dirty="0" smtClean="0"/>
              <a:t>i </a:t>
            </a:r>
            <a:r>
              <a:rPr lang="en-US" i="1" dirty="0" smtClean="0"/>
              <a:t>are the </a:t>
            </a:r>
            <a:r>
              <a:rPr lang="en-US" dirty="0" smtClean="0"/>
              <a:t>individual values of </a:t>
            </a:r>
            <a:r>
              <a:rPr lang="en-US" i="1" dirty="0" smtClean="0"/>
              <a:t>y,    </a:t>
            </a:r>
          </a:p>
          <a:p>
            <a:pPr>
              <a:buNone/>
            </a:pPr>
            <a:r>
              <a:rPr lang="en-US" i="1" dirty="0" smtClean="0"/>
              <a:t>          is the mean of the x variable,    </a:t>
            </a:r>
          </a:p>
          <a:p>
            <a:pPr>
              <a:buNone/>
            </a:pPr>
            <a:r>
              <a:rPr lang="en-US" i="1" dirty="0" smtClean="0"/>
              <a:t>          is the mean of </a:t>
            </a:r>
            <a:r>
              <a:rPr lang="en-US" dirty="0" smtClean="0"/>
              <a:t>the </a:t>
            </a:r>
            <a:r>
              <a:rPr lang="en-US" i="1" dirty="0" smtClean="0"/>
              <a:t>y variable, </a:t>
            </a:r>
          </a:p>
          <a:p>
            <a:pPr>
              <a:buNone/>
            </a:pPr>
            <a:r>
              <a:rPr lang="en-US" i="1" dirty="0" smtClean="0"/>
              <a:t>         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x</a:t>
            </a:r>
            <a:r>
              <a:rPr lang="en-US" i="1" dirty="0" smtClean="0"/>
              <a:t> and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y</a:t>
            </a:r>
            <a:r>
              <a:rPr lang="en-US" i="1" dirty="0" smtClean="0"/>
              <a:t> are the standard deviations of the variables x </a:t>
            </a:r>
            <a:r>
              <a:rPr lang="en-US" dirty="0" smtClean="0"/>
              <a:t>and </a:t>
            </a:r>
            <a:r>
              <a:rPr lang="en-US" i="1" dirty="0" smtClean="0"/>
              <a:t>y, respectively, </a:t>
            </a:r>
          </a:p>
          <a:p>
            <a:pPr>
              <a:buNone/>
            </a:pPr>
            <a:r>
              <a:rPr lang="en-US" i="1" dirty="0" smtClean="0"/>
              <a:t>         and n is the number of observations. </a:t>
            </a:r>
            <a:endParaRPr lang="en-US" dirty="0" smtClean="0"/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97760" y="2958042"/>
            <a:ext cx="1837690" cy="1042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784860" y="4751070"/>
          <a:ext cx="139700" cy="165100"/>
        </p:xfrm>
        <a:graphic>
          <a:graphicData uri="http://schemas.openxmlformats.org/presentationml/2006/ole">
            <p:oleObj spid="_x0000_s1030" name="Equation" r:id="rId4" imgW="139680" imgH="164880" progId="Equation.3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84860" y="4998720"/>
          <a:ext cx="139700" cy="190500"/>
        </p:xfrm>
        <a:graphic>
          <a:graphicData uri="http://schemas.openxmlformats.org/presentationml/2006/ole">
            <p:oleObj spid="_x0000_s1032" name="Equation" r:id="rId5" imgW="139680" imgH="1904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Correlation Coefficients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3520" y="2496275"/>
            <a:ext cx="2727642" cy="367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51162" y="2496275"/>
            <a:ext cx="4561840" cy="375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96150" y="3429000"/>
            <a:ext cx="184785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Correlation Coefficients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B168B-89B1-DC47-90F1-28CE2F9126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9280" y="1417638"/>
            <a:ext cx="7661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Standard deviation: The </a:t>
            </a:r>
            <a:r>
              <a:rPr lang="en-US" i="1" dirty="0" smtClean="0"/>
              <a:t>standard deviation is the square root of the variance.</a:t>
            </a:r>
          </a:p>
          <a:p>
            <a:endParaRPr lang="en-US" i="1" dirty="0" smtClean="0"/>
          </a:p>
          <a:p>
            <a:endParaRPr lang="en-US" i="1" dirty="0" smtClean="0"/>
          </a:p>
          <a:p>
            <a:endParaRPr lang="en-US" i="1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0663" y="1759268"/>
            <a:ext cx="15906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6300" y="2894966"/>
            <a:ext cx="491490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2984333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Correlation Coefficients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B168B-89B1-DC47-90F1-28CE2F9126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17638"/>
            <a:ext cx="501015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789363"/>
            <a:ext cx="37909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62462" y="3670300"/>
            <a:ext cx="418147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2984333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Correlation Coefficients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B168B-89B1-DC47-90F1-28CE2F9126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17638"/>
            <a:ext cx="501015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789363"/>
            <a:ext cx="37909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62462" y="3670300"/>
            <a:ext cx="418147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2984333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Correlation Coefficients using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B168B-89B1-DC47-90F1-28CE2F9126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7F7F7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160287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plt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889A00"/>
                </a:solidFill>
                <a:effectLst/>
                <a:latin typeface="Arial" pitchFamily="34" charset="0"/>
              </a:rPr>
              <a:t>.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scatter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(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x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, 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y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) 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plt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889A00"/>
                </a:solidFill>
                <a:effectLst/>
                <a:latin typeface="Arial" pitchFamily="34" charset="0"/>
              </a:rPr>
              <a:t>.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show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()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75" y="1417638"/>
            <a:ext cx="2774553" cy="2219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417638"/>
            <a:ext cx="235267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7213" y="3847783"/>
            <a:ext cx="267652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33739" y="3847783"/>
            <a:ext cx="2181542" cy="2262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19775" y="1579880"/>
            <a:ext cx="28670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19775" y="3847783"/>
            <a:ext cx="3084416" cy="2457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2984333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Correlation Coefficients using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B168B-89B1-DC47-90F1-28CE2F9126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7F7F7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160287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plt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889A00"/>
                </a:solidFill>
                <a:effectLst/>
                <a:latin typeface="Arial" pitchFamily="34" charset="0"/>
              </a:rPr>
              <a:t>.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scatter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(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x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, 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y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) 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plt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889A00"/>
                </a:solidFill>
                <a:effectLst/>
                <a:latin typeface="Arial" pitchFamily="34" charset="0"/>
              </a:rPr>
              <a:t>.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show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()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0" y="1200468"/>
            <a:ext cx="518541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08905" y="1200468"/>
            <a:ext cx="3762375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2984333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Correlation Coefficients using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B168B-89B1-DC47-90F1-28CE2F9126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7F7F7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160287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plt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889A00"/>
                </a:solidFill>
                <a:effectLst/>
                <a:latin typeface="Arial" pitchFamily="34" charset="0"/>
              </a:rPr>
              <a:t>.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scatter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(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x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, 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y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) 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plt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rgbClr val="889A00"/>
                </a:solidFill>
                <a:effectLst/>
                <a:latin typeface="Arial" pitchFamily="34" charset="0"/>
              </a:rPr>
              <a:t>.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C3643"/>
                </a:solidFill>
                <a:effectLst/>
                <a:latin typeface="Arial" pitchFamily="34" charset="0"/>
              </a:rPr>
              <a:t>show</a:t>
            </a: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itchFamily="34" charset="0"/>
              </a:rPr>
              <a:t>()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0" y="4298950"/>
            <a:ext cx="75438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2475" y="1106489"/>
            <a:ext cx="3819525" cy="319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00637" y="1106489"/>
            <a:ext cx="290512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2984333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6BF1C0-5EBB-46FE-94D9-98C277C1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02A4435F-88D9-4700-AA61-4781CD3DE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51321" y="2202288"/>
            <a:ext cx="2081360" cy="189485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06CBA7B-B22B-4D6B-A0AC-83C86A2D1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1" y="1600202"/>
            <a:ext cx="3870379" cy="2690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A23948C-F7D5-4EB4-ABAF-72FF50345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941" y="1858821"/>
            <a:ext cx="2033942" cy="226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47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B3A91D-8291-45AB-B7BF-E175E066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Normal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7309F63-BBE0-41AC-AD21-171EBC627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286" y="1690689"/>
            <a:ext cx="3036094" cy="23907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B25D300-422B-4344-A1C5-4EB8714B0EB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55283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</a:t>
            </a:r>
            <a:r>
              <a:rPr lang="en-US" u="sng" dirty="0"/>
              <a:t>probability theory</a:t>
            </a:r>
            <a:r>
              <a:rPr lang="en-US" dirty="0"/>
              <a:t>, the </a:t>
            </a:r>
            <a:r>
              <a:rPr lang="en-US" b="1" dirty="0"/>
              <a:t>normal</a:t>
            </a:r>
            <a:r>
              <a:rPr lang="en-US" dirty="0"/>
              <a:t> (or </a:t>
            </a:r>
            <a:r>
              <a:rPr lang="en-US" b="1" dirty="0"/>
              <a:t>Gaussian</a:t>
            </a:r>
            <a:r>
              <a:rPr lang="en-US" dirty="0"/>
              <a:t> or </a:t>
            </a:r>
            <a:r>
              <a:rPr lang="en-US" b="1" dirty="0"/>
              <a:t>Gauss</a:t>
            </a:r>
            <a:r>
              <a:rPr lang="en-US" dirty="0"/>
              <a:t> or </a:t>
            </a:r>
            <a:r>
              <a:rPr lang="en-US" b="1" dirty="0"/>
              <a:t>Laplace-Gauss</a:t>
            </a:r>
            <a:r>
              <a:rPr lang="en-US" dirty="0"/>
              <a:t>) </a:t>
            </a:r>
            <a:r>
              <a:rPr lang="en-US" b="1" dirty="0"/>
              <a:t>distribution</a:t>
            </a:r>
            <a:r>
              <a:rPr lang="en-US" dirty="0"/>
              <a:t> is a very common continuous probability distribution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dirty="0">
                <a:latin typeface="Arial" panose="020B0604020202020204" pitchFamily="34" charset="0"/>
                <a:hlinkClick r:id="rId3" tooltip="Probability density"/>
              </a:rPr>
              <a:t>probability density</a:t>
            </a:r>
            <a:r>
              <a:rPr lang="en-US" altLang="en-US" dirty="0">
                <a:latin typeface="Arial" panose="020B0604020202020204" pitchFamily="34" charset="0"/>
              </a:rPr>
              <a:t> of the normal distribution is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393A8FA2-464B-4C9B-B1BE-D3E089249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02737" y="4710912"/>
            <a:ext cx="2986509" cy="9356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8CBE2B51-CF0C-4F40-8B37-115ED01F302A}"/>
              </a:ext>
            </a:extLst>
          </p:cNvPr>
          <p:cNvSpPr/>
          <p:nvPr/>
        </p:nvSpPr>
        <p:spPr>
          <a:xfrm>
            <a:off x="5589430" y="4428648"/>
            <a:ext cx="33066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b="1" dirty="0"/>
              <a:t>Normal Distribution</a:t>
            </a:r>
            <a:r>
              <a:rPr lang="en-US" dirty="0"/>
              <a:t> 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mean</a:t>
            </a:r>
            <a:r>
              <a:rPr lang="en-US" dirty="0"/>
              <a:t> = </a:t>
            </a:r>
            <a:r>
              <a:rPr lang="en-US" dirty="0">
                <a:hlinkClick r:id="rId9"/>
              </a:rPr>
              <a:t>median</a:t>
            </a:r>
            <a:r>
              <a:rPr lang="en-US" dirty="0"/>
              <a:t> = </a:t>
            </a:r>
            <a:r>
              <a:rPr lang="en-US" dirty="0">
                <a:hlinkClick r:id="rId10"/>
              </a:rPr>
              <a:t>mode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symmetry about the center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50% of values less than the mean </a:t>
            </a:r>
            <a:br>
              <a:rPr lang="en-US" dirty="0"/>
            </a:br>
            <a:r>
              <a:rPr lang="en-US" dirty="0"/>
              <a:t>and 50% greater than the mean</a:t>
            </a:r>
          </a:p>
        </p:txBody>
      </p:sp>
    </p:spTree>
    <p:extLst>
      <p:ext uri="{BB962C8B-B14F-4D97-AF65-F5344CB8AC3E}">
        <p14:creationId xmlns:p14="http://schemas.microsoft.com/office/powerpoint/2010/main" xmlns="" val="2447851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722D2B-9E68-4BE2-9F7E-3D51302F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0499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Code for Normal (Gaussian)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CE950E-6186-444C-A584-8DA316E4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93A844B-A03D-47AC-A185-85570BB5C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235423" cy="199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BE804E4-0198-4F94-A68C-87C9646E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706" y="1825625"/>
            <a:ext cx="297894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3555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8CA0B0-3702-4F3C-AF3D-9097C91B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Normal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156E49B-EFFE-488F-9777-D0ED39780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159" y="1518884"/>
            <a:ext cx="4441064" cy="497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290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6967B4-1025-4535-9401-7DEF0F3A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14D277-CAEF-4CFE-A004-E0E38D60E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13255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95% of students at school are between 1.1m and 1.7m tall. </a:t>
            </a:r>
            <a:r>
              <a:rPr lang="en-US" dirty="0"/>
              <a:t>Assuming this data is </a:t>
            </a:r>
            <a:r>
              <a:rPr lang="en-US" b="1" dirty="0"/>
              <a:t>normally distributed</a:t>
            </a:r>
            <a:r>
              <a:rPr lang="en-US" dirty="0"/>
              <a:t> can you calculate the mean and standard deviation?</a:t>
            </a:r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4C6E376-9682-4F8D-B142-C3F88B0C3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333" y="3006725"/>
            <a:ext cx="4356027" cy="341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73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CE90BC-0F4B-4591-A269-6E01B298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Score or “z-score”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4F4A7A2-F1A9-41A3-8ACF-7DD02A53D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number of </a:t>
            </a:r>
            <a:r>
              <a:rPr lang="en-US" b="1" dirty="0" smtClean="0"/>
              <a:t>standard deviations from the mean</a:t>
            </a:r>
            <a:r>
              <a:rPr lang="en-US" dirty="0" smtClean="0"/>
              <a:t> is also called the "Standard Score", "sigma" or "z-score". </a:t>
            </a:r>
          </a:p>
          <a:p>
            <a:endParaRPr lang="en-US" b="1" dirty="0" smtClean="0"/>
          </a:p>
          <a:p>
            <a:r>
              <a:rPr lang="en-US" b="1" dirty="0" smtClean="0"/>
              <a:t>Example </a:t>
            </a:r>
            <a:r>
              <a:rPr lang="en-US" b="1" dirty="0"/>
              <a:t>2: In that same school one of your friends is 1.85m tall. Find out his z-score.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6469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z-score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58532" y="1417638"/>
            <a:ext cx="665797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737360" y="510032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z-score (for one sample) = (x – </a:t>
            </a:r>
            <a:r>
              <a:rPr lang="el-GR" b="1" dirty="0" smtClean="0"/>
              <a:t>μ) / σ</a:t>
            </a:r>
            <a:r>
              <a:rPr lang="en-US" b="1" dirty="0" smtClean="0"/>
              <a:t> = 1.85 – 1.4 / 0.15 = 3.0</a:t>
            </a: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Score or “z-score”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85862" y="1256824"/>
            <a:ext cx="677227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Score or “z-score”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48702" y="1777206"/>
            <a:ext cx="63150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219200" y="3105835"/>
            <a:ext cx="6847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Mean is 38.8 minutes</a:t>
            </a:r>
            <a:r>
              <a:rPr lang="en-US" dirty="0" smtClean="0"/>
              <a:t>, and the </a:t>
            </a:r>
            <a:r>
              <a:rPr lang="en-US" b="1" dirty="0" smtClean="0"/>
              <a:t>Standard Deviation is 11.4 minutes</a:t>
            </a:r>
            <a:endParaRPr lang="en-US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24927" y="3744863"/>
            <a:ext cx="60388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50560" y="1067593"/>
            <a:ext cx="316992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Score or “z-score”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28787" y="1648619"/>
            <a:ext cx="568642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Score or “z-score”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87400" y="1600200"/>
            <a:ext cx="71692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9A7A91-6836-4E50-8268-A4071E75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9FF749-E640-42AB-A72C-E310FD28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185954"/>
            <a:ext cx="7886700" cy="99100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Your score in a recent test was </a:t>
            </a:r>
            <a:r>
              <a:rPr lang="en-US" b="1" dirty="0"/>
              <a:t>0.5 standard deviations</a:t>
            </a:r>
            <a:r>
              <a:rPr lang="en-US" dirty="0"/>
              <a:t> above the average, how many people scored</a:t>
            </a:r>
            <a:r>
              <a:rPr lang="en-US" b="1" dirty="0"/>
              <a:t> lower</a:t>
            </a:r>
            <a:r>
              <a:rPr lang="en-US" dirty="0"/>
              <a:t> than you did?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3D2FC25-C0CE-4851-BFFA-FB74FDDE6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672" y="1709738"/>
            <a:ext cx="5250656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4251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19212" y="1741329"/>
            <a:ext cx="650557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812624-9697-4930-865B-BBD06427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8159D70-6BC1-4A85-9AB5-F1DF7D619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A hypothesis is an </a:t>
            </a:r>
            <a:r>
              <a:rPr lang="en-US" b="1" dirty="0"/>
              <a:t>educated guess</a:t>
            </a:r>
            <a:r>
              <a:rPr lang="en-US" dirty="0"/>
              <a:t> about something in the world around you. It should be testable, either by experiment or observation. For example:</a:t>
            </a:r>
          </a:p>
          <a:p>
            <a:pPr lvl="1" fontAlgn="base"/>
            <a:r>
              <a:rPr lang="en-US" dirty="0"/>
              <a:t>A new medicine you think might work.</a:t>
            </a:r>
          </a:p>
          <a:p>
            <a:pPr lvl="1" fontAlgn="base"/>
            <a:r>
              <a:rPr lang="en-US" dirty="0"/>
              <a:t>A way of teaching you think might be better.</a:t>
            </a:r>
          </a:p>
          <a:p>
            <a:pPr lvl="1" fontAlgn="base"/>
            <a:r>
              <a:rPr lang="en-US" dirty="0"/>
              <a:t>A possible location of new species.</a:t>
            </a:r>
          </a:p>
          <a:p>
            <a:pPr lvl="1" fontAlgn="base"/>
            <a:r>
              <a:rPr lang="en-US" dirty="0"/>
              <a:t>A fairer way to administer standardized tests.</a:t>
            </a:r>
          </a:p>
          <a:p>
            <a:pPr fontAlgn="base"/>
            <a:r>
              <a:rPr lang="en-US" dirty="0"/>
              <a:t>It can really be </a:t>
            </a:r>
            <a:r>
              <a:rPr lang="en-US" i="1" dirty="0"/>
              <a:t>anything at all</a:t>
            </a:r>
            <a:r>
              <a:rPr lang="en-US" dirty="0"/>
              <a:t> as long as you can put it to the test.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31919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9D48FC-33F2-4555-84C0-2AE2FAF0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Hypothesis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CDBAD2D-0A06-4D3A-B36C-A8499A45F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General format:</a:t>
            </a:r>
          </a:p>
          <a:p>
            <a:pPr lvl="1"/>
            <a:r>
              <a:rPr lang="en-US" dirty="0"/>
              <a:t>“If I…(do this to an independent variable)….then (this will happen to the dependent variable).”</a:t>
            </a:r>
          </a:p>
          <a:p>
            <a:pPr lvl="1" fontAlgn="base"/>
            <a:r>
              <a:rPr lang="en-US" dirty="0"/>
              <a:t>If I (give patients counseling in addition to medication) then (their overall depression scale will decrease).</a:t>
            </a:r>
          </a:p>
          <a:p>
            <a:pPr lvl="1" fontAlgn="base"/>
            <a:r>
              <a:rPr lang="en-US" dirty="0"/>
              <a:t>If I (give exams at noon instead of 7) then (student test scores will improve).</a:t>
            </a:r>
          </a:p>
          <a:p>
            <a:pPr lvl="1" fontAlgn="base"/>
            <a:r>
              <a:rPr lang="en-US" dirty="0"/>
              <a:t>If I (look in this certain location) then (I am more likely to find new species).</a:t>
            </a:r>
          </a:p>
          <a:p>
            <a:pPr lvl="1" fontAlgn="base"/>
            <a:r>
              <a:rPr lang="en-AU" b="1" dirty="0"/>
              <a:t>I</a:t>
            </a:r>
            <a:r>
              <a:rPr lang="en-US" b="1" dirty="0"/>
              <a:t>f I (make the question hard) then (I am more likely to become famous!)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33052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575BDD-9258-414E-9468-D85729F1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is it important?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EAB13A-6726-4FD3-8C4F-FF90D1D98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Hypothesis testing in statistics is a way for you to test the results of a survey or experiment to see if you have meaningful results. </a:t>
            </a:r>
          </a:p>
          <a:p>
            <a:r>
              <a:rPr lang="en-US" dirty="0"/>
              <a:t>You’re basically testing whether your results are valid by figuring out the odds that your results have happened </a:t>
            </a:r>
            <a:r>
              <a:rPr lang="en-US" b="1" dirty="0"/>
              <a:t>by chance</a:t>
            </a:r>
            <a:r>
              <a:rPr lang="en-US" dirty="0"/>
              <a:t>. </a:t>
            </a:r>
          </a:p>
          <a:p>
            <a:r>
              <a:rPr lang="en-US" dirty="0"/>
              <a:t>If your results may have happened by chance, the experiment won’t be repeatable and so has little use.</a:t>
            </a:r>
          </a:p>
        </p:txBody>
      </p:sp>
    </p:spTree>
    <p:extLst>
      <p:ext uri="{BB962C8B-B14F-4D97-AF65-F5344CB8AC3E}">
        <p14:creationId xmlns="" xmlns:p14="http://schemas.microsoft.com/office/powerpoint/2010/main" val="424878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11E001-0B47-4DA8-80BF-00F5D927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First Step: Formulating Null Hypothesis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05FCA6-26BF-4CC2-93D2-61EFBA06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Null hypothesis is always the accepted fact.</a:t>
            </a:r>
          </a:p>
          <a:p>
            <a:pPr lvl="1"/>
            <a:r>
              <a:rPr lang="en-AU" dirty="0"/>
              <a:t>DNA is shaped like a double helix</a:t>
            </a:r>
            <a:r>
              <a:rPr lang="en-US" dirty="0"/>
              <a:t>.</a:t>
            </a:r>
          </a:p>
          <a:p>
            <a:pPr lvl="1">
              <a:buNone/>
            </a:pPr>
            <a:endParaRPr lang="en-US" dirty="0">
              <a:latin typeface="Nikosh" panose="02000000000000000000" pitchFamily="2" charset="0"/>
              <a:cs typeface="Nikosh" panose="02000000000000000000" pitchFamily="2" charset="0"/>
            </a:endParaRPr>
          </a:p>
          <a:p>
            <a:r>
              <a:rPr lang="en-AU" dirty="0"/>
              <a:t>Either support or reject null hypothesis. </a:t>
            </a:r>
          </a:p>
          <a:p>
            <a:r>
              <a:rPr lang="en-AU" dirty="0"/>
              <a:t>Null hypothesis is </a:t>
            </a:r>
            <a:r>
              <a:rPr lang="en-AU" dirty="0" err="1"/>
              <a:t>nullfiable</a:t>
            </a:r>
            <a:r>
              <a:rPr lang="en-AU" dirty="0"/>
              <a:t> (something you can reject)</a:t>
            </a:r>
          </a:p>
        </p:txBody>
      </p:sp>
    </p:spTree>
    <p:extLst>
      <p:ext uri="{BB962C8B-B14F-4D97-AF65-F5344CB8AC3E}">
        <p14:creationId xmlns="" xmlns:p14="http://schemas.microsoft.com/office/powerpoint/2010/main" val="1050114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FDE98A-B274-42CF-BAC5-EDAE377F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Null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73D2841-3B47-4E06-B689-1EB9D6D0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researcher thinks that if knee surgery patients go to physical therapy twice a week (instead of 3 times), their recovery period will be longer. Average recovery times for knee surgery patients is 8.2 weeks.</a:t>
            </a:r>
          </a:p>
          <a:p>
            <a:r>
              <a:rPr lang="en-US" dirty="0"/>
              <a:t>Find out the null hypothesis.</a:t>
            </a:r>
          </a:p>
        </p:txBody>
      </p:sp>
    </p:spTree>
    <p:extLst>
      <p:ext uri="{BB962C8B-B14F-4D97-AF65-F5344CB8AC3E}">
        <p14:creationId xmlns="" xmlns:p14="http://schemas.microsoft.com/office/powerpoint/2010/main" val="70965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41163D-6B2E-48E8-A9D8-7D06AAE5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Null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DBCD723-4FF9-4847-AAF4-FA63F86F4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µ &lt;= 8.2</a:t>
            </a:r>
          </a:p>
        </p:txBody>
      </p:sp>
    </p:spTree>
    <p:extLst>
      <p:ext uri="{BB962C8B-B14F-4D97-AF65-F5344CB8AC3E}">
        <p14:creationId xmlns="" xmlns:p14="http://schemas.microsoft.com/office/powerpoint/2010/main" val="3593830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ED8D16-497D-4B8D-9115-805853B1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005801-91AB-4E7E-99AD-E3681A0B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researcher thinks that if knee surgery patients go to physical therapy twice a week (instead of 3 times), their recovery period will be longer. Average recovery times for knee surgery patients is 8.2 weeks.</a:t>
            </a:r>
          </a:p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µ &lt;= 8.2</a:t>
            </a:r>
          </a:p>
          <a:p>
            <a:r>
              <a:rPr lang="en-US" dirty="0"/>
              <a:t>Find out the alternate hypothesis.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82024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33625C-AE50-46F1-90CC-5C7242A9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11F253-4A31-4981-9D0C-BB0686E1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µ &lt;= 8.2</a:t>
            </a:r>
          </a:p>
          <a:p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: µ &gt; 8.2 (alternate hypothesis)</a:t>
            </a:r>
          </a:p>
        </p:txBody>
      </p:sp>
    </p:spTree>
    <p:extLst>
      <p:ext uri="{BB962C8B-B14F-4D97-AF65-F5344CB8AC3E}">
        <p14:creationId xmlns="" xmlns:p14="http://schemas.microsoft.com/office/powerpoint/2010/main" val="1859691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91B9FA-7DF4-4BCA-BAB6-54A4017D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841CC5-C093-4095-A646-C860FB167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Problem: A principal at a certain school claims that the students in his school are above average intelligence. A random sample of thirty students IQ scores have a mean score of 112. Is there sufficient evidence to support the principal’s claim? The mean population IQ is 100 with a standard deviation of 15. </a:t>
            </a:r>
          </a:p>
          <a:p>
            <a:r>
              <a:rPr lang="en-US" dirty="0"/>
              <a:t>Formula to find the test statistics: </a:t>
            </a:r>
          </a:p>
          <a:p>
            <a:endParaRPr lang="en-US" dirty="0"/>
          </a:p>
          <a:p>
            <a:r>
              <a:rPr lang="en-US" dirty="0"/>
              <a:t>If z-score from test statistics is greater than the rejection area from z-table, reject the null hypothesis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7B7B33A-AE3C-4EFA-9368-8EBD2854C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659" y="3862040"/>
            <a:ext cx="1711197" cy="10694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89771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E0F07D-1F67-4352-9D8D-035E488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Example (two-tailed test)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BE58FD-0894-4183-A3E7-E482FE33E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dirty="0"/>
              <a:t>Blood glucose levels for obese patients have a mean of 100 with a standard deviation of 15. A researcher thinks that a diet high in raw cornstarch will have a positive or negative effect on blood glucose levels. A sample of 30 patients who have tried the raw cornstarch diet have a mean glucose level of 140. Test the hypothesis that the raw cornstarch had an effect.</a:t>
            </a:r>
          </a:p>
          <a:p>
            <a:r>
              <a:rPr lang="en-US" dirty="0"/>
              <a:t>This is a two-tailed test. (null hypothesis involves equality)</a:t>
            </a:r>
          </a:p>
          <a:p>
            <a:r>
              <a:rPr lang="en-US" dirty="0">
                <a:hlinkClick r:id="rId2"/>
              </a:rPr>
              <a:t>https://youtu.be/aiRVUkM92os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28637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31078" y="1666240"/>
            <a:ext cx="73386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[1] </a:t>
            </a:r>
            <a:r>
              <a:rPr lang="en-US" sz="1200" dirty="0" smtClean="0">
                <a:hlinkClick r:id="rId2"/>
              </a:rPr>
              <a:t>https://www.mathsisfun.com/data/index.html </a:t>
            </a:r>
          </a:p>
          <a:p>
            <a:endParaRPr lang="en-US" sz="1200" dirty="0" smtClean="0"/>
          </a:p>
          <a:p>
            <a:r>
              <a:rPr lang="en-US" sz="1200" dirty="0" smtClean="0"/>
              <a:t>[2] Glenn J. Myatt, Wayne P. Johnson - Making Sense of Data I, 2nd Edition_ A Practical Guide to Exploratory Data Analysis and Data Mining</a:t>
            </a:r>
            <a:r>
              <a:rPr lang="en-US" sz="1200" dirty="0" smtClean="0">
                <a:hlinkClick r:id="rId2"/>
              </a:rPr>
              <a:t> 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[3] </a:t>
            </a:r>
            <a:r>
              <a:rPr lang="en-US" sz="1200" dirty="0" smtClean="0">
                <a:hlinkClick r:id="rId3"/>
              </a:rPr>
              <a:t>http://benalexkeen.com/correlation-in-python/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[4] </a:t>
            </a:r>
            <a:r>
              <a:rPr lang="en-US" sz="1200" dirty="0" smtClean="0">
                <a:hlinkClick r:id="rId4"/>
              </a:rPr>
              <a:t>https://www.udemy.com/the-data-science-course-complete-data-science-bootcamp/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4122</TotalTime>
  <Words>683</Words>
  <Application>Microsoft Macintosh PowerPoint</Application>
  <PresentationFormat>On-screen Show (4:3)</PresentationFormat>
  <Paragraphs>119</Paragraphs>
  <Slides>33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Office Theme</vt:lpstr>
      <vt:lpstr>Equation</vt:lpstr>
      <vt:lpstr>Process for Making Sense of Data Lecture 2</vt:lpstr>
      <vt:lpstr>Measurement of  the strength of the relationship between two variables</vt:lpstr>
      <vt:lpstr>Correlation Coefficients</vt:lpstr>
      <vt:lpstr>Correlation Coefficients</vt:lpstr>
      <vt:lpstr>Correlation Coefficients</vt:lpstr>
      <vt:lpstr>Correlation Coefficients</vt:lpstr>
      <vt:lpstr>Correlation Coefficients using Python</vt:lpstr>
      <vt:lpstr>Correlation Coefficients using Python</vt:lpstr>
      <vt:lpstr>Correlation Coefficients using Python</vt:lpstr>
      <vt:lpstr>Data Distribution</vt:lpstr>
      <vt:lpstr>Normal Distribution</vt:lpstr>
      <vt:lpstr>Python Code for Normal (Gaussian) Distribution</vt:lpstr>
      <vt:lpstr>Properties of Normal Distribution</vt:lpstr>
      <vt:lpstr>Example 1</vt:lpstr>
      <vt:lpstr>Standard Score or “z-score”</vt:lpstr>
      <vt:lpstr>z-score</vt:lpstr>
      <vt:lpstr>Standard Score or “z-score”</vt:lpstr>
      <vt:lpstr>Standard Score or “z-score”</vt:lpstr>
      <vt:lpstr>Standard Score or “z-score”</vt:lpstr>
      <vt:lpstr>Standard Score or “z-score”</vt:lpstr>
      <vt:lpstr>Another Example</vt:lpstr>
      <vt:lpstr>Example</vt:lpstr>
      <vt:lpstr>Hypothesis Testing</vt:lpstr>
      <vt:lpstr>Hypothesis Statement</vt:lpstr>
      <vt:lpstr>Why is it important?</vt:lpstr>
      <vt:lpstr>First Step: Formulating Null Hypothesis</vt:lpstr>
      <vt:lpstr>Finding Null Hypothesis</vt:lpstr>
      <vt:lpstr>Finding Null Hypothesis</vt:lpstr>
      <vt:lpstr>Alternate Hypothesis</vt:lpstr>
      <vt:lpstr>Alternate Hypothesis</vt:lpstr>
      <vt:lpstr>Hypothesis Testing Example</vt:lpstr>
      <vt:lpstr>Hypothesis Testing Example (two-tailed test)</vt:lpstr>
      <vt:lpstr>References</vt:lpstr>
    </vt:vector>
  </TitlesOfParts>
  <Company>UC Berkeley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Franklin</dc:creator>
  <cp:lastModifiedBy>rabiul.alam</cp:lastModifiedBy>
  <cp:revision>150</cp:revision>
  <dcterms:created xsi:type="dcterms:W3CDTF">2014-01-27T17:03:34Z</dcterms:created>
  <dcterms:modified xsi:type="dcterms:W3CDTF">2019-01-27T15:36:53Z</dcterms:modified>
</cp:coreProperties>
</file>