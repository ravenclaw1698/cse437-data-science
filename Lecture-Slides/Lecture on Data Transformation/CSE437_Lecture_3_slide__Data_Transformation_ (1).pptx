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17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17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17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17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17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7"/>
            <a:ext cx="370840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1608706"/>
            <a:ext cx="2900679" cy="655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41184" y="3135783"/>
            <a:ext cx="63817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439869" y="3135783"/>
            <a:ext cx="49212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25937" y="3135783"/>
            <a:ext cx="279706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17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7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" Target="slide17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slide" Target="slide17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slide" Target="slide17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7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slide" Target="slide17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slide" Target="slide1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17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slide" Target="slide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slide" Target="slide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slide" Target="slide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29.png"/><Relationship Id="rId5" Type="http://schemas.openxmlformats.org/officeDocument/2006/relationships/slide" Target="slide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slide" Target="slide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slide" Target="slide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slide" Target="slide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slide" Target="slide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7743" y="795438"/>
            <a:ext cx="5635625" cy="529590"/>
            <a:chOff x="87743" y="795438"/>
            <a:chExt cx="5635625" cy="529590"/>
          </a:xfrm>
        </p:grpSpPr>
        <p:sp>
          <p:nvSpPr>
            <p:cNvPr id="3" name="object 3" descr=""/>
            <p:cNvSpPr/>
            <p:nvPr/>
          </p:nvSpPr>
          <p:spPr>
            <a:xfrm>
              <a:off x="87743" y="795438"/>
              <a:ext cx="5584825" cy="82550"/>
            </a:xfrm>
            <a:custGeom>
              <a:avLst/>
              <a:gdLst/>
              <a:ahLst/>
              <a:cxnLst/>
              <a:rect l="l" t="t" r="r" b="b"/>
              <a:pathLst>
                <a:path w="5584825" h="82550">
                  <a:moveTo>
                    <a:pt x="553377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84580" y="82384"/>
                  </a:lnTo>
                  <a:lnTo>
                    <a:pt x="5584580" y="50800"/>
                  </a:lnTo>
                  <a:lnTo>
                    <a:pt x="5580571" y="31075"/>
                  </a:lnTo>
                  <a:lnTo>
                    <a:pt x="5569657" y="14922"/>
                  </a:lnTo>
                  <a:lnTo>
                    <a:pt x="5553504" y="4008"/>
                  </a:lnTo>
                  <a:lnTo>
                    <a:pt x="553377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8544" y="858694"/>
              <a:ext cx="5584825" cy="466090"/>
            </a:xfrm>
            <a:custGeom>
              <a:avLst/>
              <a:gdLst/>
              <a:ahLst/>
              <a:cxnLst/>
              <a:rect l="l" t="t" r="r" b="b"/>
              <a:pathLst>
                <a:path w="5584825" h="466090">
                  <a:moveTo>
                    <a:pt x="5584580" y="0"/>
                  </a:moveTo>
                  <a:lnTo>
                    <a:pt x="0" y="0"/>
                  </a:lnTo>
                  <a:lnTo>
                    <a:pt x="0" y="466093"/>
                  </a:lnTo>
                  <a:lnTo>
                    <a:pt x="5584580" y="466093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7743" y="839858"/>
              <a:ext cx="5584825" cy="434340"/>
            </a:xfrm>
            <a:custGeom>
              <a:avLst/>
              <a:gdLst/>
              <a:ahLst/>
              <a:cxnLst/>
              <a:rect l="l" t="t" r="r" b="b"/>
              <a:pathLst>
                <a:path w="5584825" h="434340">
                  <a:moveTo>
                    <a:pt x="5584580" y="0"/>
                  </a:moveTo>
                  <a:lnTo>
                    <a:pt x="0" y="0"/>
                  </a:lnTo>
                  <a:lnTo>
                    <a:pt x="0" y="383329"/>
                  </a:lnTo>
                  <a:lnTo>
                    <a:pt x="4008" y="403054"/>
                  </a:lnTo>
                  <a:lnTo>
                    <a:pt x="14922" y="419207"/>
                  </a:lnTo>
                  <a:lnTo>
                    <a:pt x="31075" y="430121"/>
                  </a:lnTo>
                  <a:lnTo>
                    <a:pt x="50800" y="434129"/>
                  </a:lnTo>
                  <a:lnTo>
                    <a:pt x="5533779" y="434129"/>
                  </a:lnTo>
                  <a:lnTo>
                    <a:pt x="5553504" y="430121"/>
                  </a:lnTo>
                  <a:lnTo>
                    <a:pt x="5569657" y="419207"/>
                  </a:lnTo>
                  <a:lnTo>
                    <a:pt x="5580571" y="403054"/>
                  </a:lnTo>
                  <a:lnTo>
                    <a:pt x="5584580" y="383329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38544" y="858694"/>
            <a:ext cx="5584825" cy="46609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 marR="93980">
              <a:lnSpc>
                <a:spcPct val="100000"/>
              </a:lnSpc>
              <a:spcBef>
                <a:spcPts val="44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dirty="0" sz="14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Transformation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Techniques</a:t>
            </a:r>
            <a:r>
              <a:rPr dirty="0" sz="14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Machine</a:t>
            </a:r>
            <a:r>
              <a:rPr dirty="0" sz="14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Learning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341308" y="1484082"/>
            <a:ext cx="1078230" cy="7181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Nafiz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Imtiaz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Rafin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100" spc="-45">
                <a:latin typeface="Tahoma"/>
                <a:cs typeface="Tahoma"/>
              </a:rPr>
              <a:t>Summer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2025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960460" y="3135783"/>
            <a:ext cx="183896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Transformation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Techniques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17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-20"/>
              <a:t> </a:t>
            </a:r>
            <a:r>
              <a:rPr dirty="0"/>
              <a:t>is</a:t>
            </a:r>
            <a:r>
              <a:rPr dirty="0" spc="-20"/>
              <a:t> </a:t>
            </a:r>
            <a:r>
              <a:rPr dirty="0"/>
              <a:t>Data</a:t>
            </a:r>
            <a:r>
              <a:rPr dirty="0" spc="-20"/>
              <a:t> </a:t>
            </a:r>
            <a:r>
              <a:rPr dirty="0" spc="-40"/>
              <a:t>Transformation?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64488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46593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28698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38731"/>
            <a:ext cx="65265" cy="6526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5844" y="881035"/>
            <a:ext cx="5356860" cy="155638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89560" marR="1828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Tahoma"/>
                <a:cs typeface="Tahoma"/>
              </a:rPr>
              <a:t>Data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transformation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process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converting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original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format </a:t>
            </a:r>
            <a:r>
              <a:rPr dirty="0" sz="1100">
                <a:latin typeface="Tahoma"/>
                <a:cs typeface="Tahoma"/>
              </a:rPr>
              <a:t>into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 </a:t>
            </a:r>
            <a:r>
              <a:rPr dirty="0" sz="1100" spc="-25">
                <a:latin typeface="Tahoma"/>
                <a:cs typeface="Tahoma"/>
              </a:rPr>
              <a:t>format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suitable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analysis.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involves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modifying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structure,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format, </a:t>
            </a:r>
            <a:r>
              <a:rPr dirty="0" sz="1100" spc="-20">
                <a:latin typeface="Tahoma"/>
                <a:cs typeface="Tahoma"/>
              </a:rPr>
              <a:t>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values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enhance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quality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and </a:t>
            </a:r>
            <a:r>
              <a:rPr dirty="0" sz="1100" spc="-10">
                <a:latin typeface="Tahoma"/>
                <a:cs typeface="Tahoma"/>
              </a:rPr>
              <a:t>usability.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 sz="1100" spc="-20">
                <a:latin typeface="Tahoma"/>
                <a:cs typeface="Tahoma"/>
              </a:rPr>
              <a:t>Typically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follows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cleaning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phase.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dirty="0" sz="1100" spc="-30">
                <a:latin typeface="Tahoma"/>
                <a:cs typeface="Tahoma"/>
              </a:rPr>
              <a:t>Example: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Changing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string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labels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numerical</a:t>
            </a:r>
            <a:r>
              <a:rPr dirty="0" sz="1100" spc="-40">
                <a:latin typeface="Tahoma"/>
                <a:cs typeface="Tahoma"/>
              </a:rPr>
              <a:t> values,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scaling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numeric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features.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00" spc="-25" b="1">
                <a:latin typeface="Arial"/>
                <a:cs typeface="Arial"/>
              </a:rPr>
              <a:t>Pipeline:</a:t>
            </a:r>
            <a:r>
              <a:rPr dirty="0" sz="1100" spc="114" b="1">
                <a:latin typeface="Arial"/>
                <a:cs typeface="Arial"/>
              </a:rPr>
              <a:t> </a:t>
            </a:r>
            <a:r>
              <a:rPr dirty="0" sz="1100" spc="-20">
                <a:latin typeface="Tahoma"/>
                <a:cs typeface="Tahoma"/>
              </a:rPr>
              <a:t>Raw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Data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→</a:t>
            </a:r>
            <a:r>
              <a:rPr dirty="0" sz="1100" spc="15" i="1">
                <a:latin typeface="Arial"/>
                <a:cs typeface="Arial"/>
              </a:rPr>
              <a:t> </a:t>
            </a:r>
            <a:r>
              <a:rPr dirty="0" sz="1100" spc="-30">
                <a:latin typeface="Tahoma"/>
                <a:cs typeface="Tahoma"/>
              </a:rPr>
              <a:t>Cleaning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→</a:t>
            </a:r>
            <a:r>
              <a:rPr dirty="0" sz="1100" spc="20" i="1">
                <a:latin typeface="Arial"/>
                <a:cs typeface="Arial"/>
              </a:rPr>
              <a:t> </a:t>
            </a:r>
            <a:r>
              <a:rPr dirty="0" sz="1100" spc="-40" b="1">
                <a:latin typeface="Arial"/>
                <a:cs typeface="Arial"/>
              </a:rPr>
              <a:t>Transformation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→</a:t>
            </a:r>
            <a:r>
              <a:rPr dirty="0" sz="1100" spc="20" i="1">
                <a:latin typeface="Arial"/>
                <a:cs typeface="Arial"/>
              </a:rPr>
              <a:t> </a:t>
            </a:r>
            <a:r>
              <a:rPr dirty="0" sz="1100" spc="-10">
                <a:latin typeface="Tahoma"/>
                <a:cs typeface="Tahoma"/>
              </a:rPr>
              <a:t>Modeling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960460" y="3135783"/>
            <a:ext cx="183896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Data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Transformation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Techniques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in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Machine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17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dirty="0" spc="-35"/>
              <a:t> </a:t>
            </a:r>
            <a:r>
              <a:rPr dirty="0"/>
              <a:t>Do</a:t>
            </a:r>
            <a:r>
              <a:rPr dirty="0" spc="-30"/>
              <a:t> </a:t>
            </a:r>
            <a:r>
              <a:rPr dirty="0"/>
              <a:t>We</a:t>
            </a:r>
            <a:r>
              <a:rPr dirty="0" spc="-35"/>
              <a:t> </a:t>
            </a:r>
            <a:r>
              <a:rPr dirty="0" spc="-45"/>
              <a:t>Need</a:t>
            </a:r>
            <a:r>
              <a:rPr dirty="0" spc="-30"/>
              <a:t> </a:t>
            </a:r>
            <a:r>
              <a:rPr dirty="0"/>
              <a:t>Data</a:t>
            </a:r>
            <a:r>
              <a:rPr dirty="0" spc="-35"/>
              <a:t> Transformation?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58963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1031733"/>
            <a:ext cx="4387850" cy="107569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70">
                <a:latin typeface="Tahoma"/>
                <a:cs typeface="Tahoma"/>
              </a:rPr>
              <a:t>ML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algorithms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often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expect numeric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standardized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inputs.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25299"/>
              </a:lnSpc>
            </a:pPr>
            <a:r>
              <a:rPr dirty="0" sz="1100" spc="-20">
                <a:latin typeface="Tahoma"/>
                <a:cs typeface="Tahoma"/>
              </a:rPr>
              <a:t>Raw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might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contain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inconsistencies,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missing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values, </a:t>
            </a:r>
            <a:r>
              <a:rPr dirty="0" sz="1100" spc="-20">
                <a:latin typeface="Tahoma"/>
                <a:cs typeface="Tahoma"/>
              </a:rPr>
              <a:t>or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varying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formats. </a:t>
            </a:r>
            <a:r>
              <a:rPr dirty="0" sz="1100" spc="-25">
                <a:latin typeface="Tahoma"/>
                <a:cs typeface="Tahoma"/>
              </a:rPr>
              <a:t>Helps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feature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comparability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by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placing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them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same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scale.</a:t>
            </a:r>
            <a:endParaRPr sz="1100">
              <a:latin typeface="Tahoma"/>
              <a:cs typeface="Tahoma"/>
            </a:endParaRPr>
          </a:p>
          <a:p>
            <a:pPr marL="12700" marR="401955">
              <a:lnSpc>
                <a:spcPct val="125299"/>
              </a:lnSpc>
            </a:pPr>
            <a:r>
              <a:rPr dirty="0" sz="1100" spc="-45">
                <a:latin typeface="Tahoma"/>
                <a:cs typeface="Tahoma"/>
              </a:rPr>
              <a:t>Reduces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computational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complexity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improves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convergence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speed. </a:t>
            </a:r>
            <a:r>
              <a:rPr dirty="0" sz="1100" spc="-75">
                <a:latin typeface="Tahoma"/>
                <a:cs typeface="Tahoma"/>
              </a:rPr>
              <a:t>Improves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accuracy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efficiency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70">
                <a:latin typeface="Tahoma"/>
                <a:cs typeface="Tahoma"/>
              </a:rPr>
              <a:t>ML</a:t>
            </a:r>
            <a:r>
              <a:rPr dirty="0" sz="1100" spc="-10">
                <a:latin typeface="Tahoma"/>
                <a:cs typeface="Tahoma"/>
              </a:rPr>
              <a:t> models.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68996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79029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789061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999094"/>
            <a:ext cx="65265" cy="65265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0" name="object 10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1960460" y="3135783"/>
            <a:ext cx="183896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Data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Transformation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Techniques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in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Machine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17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268732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5"/>
              <a:t>Techniques</a:t>
            </a:r>
            <a:r>
              <a:rPr dirty="0" spc="-20"/>
              <a:t> </a:t>
            </a:r>
            <a:r>
              <a:rPr dirty="0" spc="-45"/>
              <a:t>Covered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/>
              <a:t>This</a:t>
            </a:r>
            <a:r>
              <a:rPr dirty="0" spc="-15"/>
              <a:t> </a:t>
            </a:r>
            <a:r>
              <a:rPr dirty="0" spc="-10"/>
              <a:t>Lecture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59128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69161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79194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89226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099259"/>
            <a:ext cx="65265" cy="6526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25844" y="921865"/>
            <a:ext cx="5116830" cy="128587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6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lecture,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cover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following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common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transformation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techniques:</a:t>
            </a:r>
            <a:endParaRPr sz="1100">
              <a:latin typeface="Tahoma"/>
              <a:cs typeface="Tahoma"/>
            </a:endParaRPr>
          </a:p>
          <a:p>
            <a:pPr marL="289560" marR="936625">
              <a:lnSpc>
                <a:spcPct val="125299"/>
              </a:lnSpc>
            </a:pPr>
            <a:r>
              <a:rPr dirty="0" sz="1100" spc="-10" b="1">
                <a:latin typeface="Arial"/>
                <a:cs typeface="Arial"/>
              </a:rPr>
              <a:t>Mapping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–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Converting</a:t>
            </a:r>
            <a:r>
              <a:rPr dirty="0" sz="1100" spc="-35">
                <a:latin typeface="Tahoma"/>
                <a:cs typeface="Tahoma"/>
              </a:rPr>
              <a:t> categorical </a:t>
            </a:r>
            <a:r>
              <a:rPr dirty="0" sz="1100" spc="-40">
                <a:latin typeface="Tahoma"/>
                <a:cs typeface="Tahoma"/>
              </a:rPr>
              <a:t>variables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numeric </a:t>
            </a:r>
            <a:r>
              <a:rPr dirty="0" sz="1100" spc="-10">
                <a:latin typeface="Tahoma"/>
                <a:cs typeface="Tahoma"/>
              </a:rPr>
              <a:t>format. </a:t>
            </a:r>
            <a:r>
              <a:rPr dirty="0" sz="1100" spc="-20" b="1">
                <a:latin typeface="Arial"/>
                <a:cs typeface="Arial"/>
              </a:rPr>
              <a:t>Quantization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–</a:t>
            </a:r>
            <a:r>
              <a:rPr dirty="0" sz="1100" spc="-35">
                <a:latin typeface="Tahoma"/>
                <a:cs typeface="Tahoma"/>
              </a:rPr>
              <a:t> Grouping continuous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variables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discrete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bins. </a:t>
            </a:r>
            <a:r>
              <a:rPr dirty="0" sz="1100" spc="-30" b="1">
                <a:latin typeface="Arial"/>
                <a:cs typeface="Arial"/>
              </a:rPr>
              <a:t>Binarization</a:t>
            </a:r>
            <a:r>
              <a:rPr dirty="0" sz="110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–</a:t>
            </a:r>
            <a:r>
              <a:rPr dirty="0" sz="1100" spc="-40">
                <a:latin typeface="Tahoma"/>
                <a:cs typeface="Tahoma"/>
              </a:rPr>
              <a:t> Transforming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values </a:t>
            </a:r>
            <a:r>
              <a:rPr dirty="0" sz="1100">
                <a:latin typeface="Tahoma"/>
                <a:cs typeface="Tahoma"/>
              </a:rPr>
              <a:t>into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binary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format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(0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1). </a:t>
            </a:r>
            <a:r>
              <a:rPr dirty="0" sz="1100" spc="-25" b="1">
                <a:latin typeface="Arial"/>
                <a:cs typeface="Arial"/>
              </a:rPr>
              <a:t>Normalization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–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Rescaling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values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fixed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range,</a:t>
            </a:r>
            <a:r>
              <a:rPr dirty="0" sz="1100" spc="-20">
                <a:latin typeface="Tahoma"/>
                <a:cs typeface="Tahoma"/>
              </a:rPr>
              <a:t> typically </a:t>
            </a:r>
            <a:r>
              <a:rPr dirty="0" sz="1100" spc="-50">
                <a:latin typeface="Tahoma"/>
                <a:cs typeface="Tahoma"/>
              </a:rPr>
              <a:t>[0,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1].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 sz="1100" spc="-45" b="1">
                <a:latin typeface="Arial"/>
                <a:cs typeface="Arial"/>
              </a:rPr>
              <a:t>Scaling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(Standardization)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–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Adjusting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have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zero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mean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unit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variance.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0" name="object 10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1960460" y="3135783"/>
            <a:ext cx="183896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Data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Transformation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Techniques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in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Machine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17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59877"/>
            <a:ext cx="315722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45">
                <a:solidFill>
                  <a:srgbClr val="FFFFFF"/>
                </a:solidFill>
                <a:latin typeface="Tahoma"/>
                <a:cs typeface="Tahoma"/>
              </a:rPr>
              <a:t>Where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Transformation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Fits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Pipeline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65409" y="1349611"/>
            <a:ext cx="1008380" cy="360045"/>
          </a:xfrm>
          <a:custGeom>
            <a:avLst/>
            <a:gdLst/>
            <a:ahLst/>
            <a:cxnLst/>
            <a:rect l="l" t="t" r="r" b="b"/>
            <a:pathLst>
              <a:path w="1008380" h="360044">
                <a:moveTo>
                  <a:pt x="957402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309393"/>
                </a:lnTo>
                <a:lnTo>
                  <a:pt x="3977" y="329093"/>
                </a:lnTo>
                <a:lnTo>
                  <a:pt x="14823" y="345180"/>
                </a:lnTo>
                <a:lnTo>
                  <a:pt x="30910" y="356026"/>
                </a:lnTo>
                <a:lnTo>
                  <a:pt x="50610" y="360004"/>
                </a:lnTo>
                <a:lnTo>
                  <a:pt x="957402" y="360004"/>
                </a:lnTo>
                <a:lnTo>
                  <a:pt x="977103" y="356026"/>
                </a:lnTo>
                <a:lnTo>
                  <a:pt x="993190" y="345180"/>
                </a:lnTo>
                <a:lnTo>
                  <a:pt x="1004036" y="329093"/>
                </a:lnTo>
                <a:lnTo>
                  <a:pt x="1008013" y="309393"/>
                </a:lnTo>
                <a:lnTo>
                  <a:pt x="1008013" y="50610"/>
                </a:lnTo>
                <a:lnTo>
                  <a:pt x="1004036" y="30910"/>
                </a:lnTo>
                <a:lnTo>
                  <a:pt x="993190" y="14823"/>
                </a:lnTo>
                <a:lnTo>
                  <a:pt x="977103" y="3977"/>
                </a:lnTo>
                <a:lnTo>
                  <a:pt x="957402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68565" y="1426475"/>
            <a:ext cx="6019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Raw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758486" y="1349611"/>
            <a:ext cx="1008380" cy="360045"/>
          </a:xfrm>
          <a:custGeom>
            <a:avLst/>
            <a:gdLst/>
            <a:ahLst/>
            <a:cxnLst/>
            <a:rect l="l" t="t" r="r" b="b"/>
            <a:pathLst>
              <a:path w="1008380" h="360044">
                <a:moveTo>
                  <a:pt x="957402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309393"/>
                </a:lnTo>
                <a:lnTo>
                  <a:pt x="3977" y="329093"/>
                </a:lnTo>
                <a:lnTo>
                  <a:pt x="14823" y="345180"/>
                </a:lnTo>
                <a:lnTo>
                  <a:pt x="30910" y="356026"/>
                </a:lnTo>
                <a:lnTo>
                  <a:pt x="50610" y="360004"/>
                </a:lnTo>
                <a:lnTo>
                  <a:pt x="957402" y="360004"/>
                </a:lnTo>
                <a:lnTo>
                  <a:pt x="977103" y="356026"/>
                </a:lnTo>
                <a:lnTo>
                  <a:pt x="993190" y="345180"/>
                </a:lnTo>
                <a:lnTo>
                  <a:pt x="1004036" y="329093"/>
                </a:lnTo>
                <a:lnTo>
                  <a:pt x="1008013" y="309393"/>
                </a:lnTo>
                <a:lnTo>
                  <a:pt x="1008013" y="50610"/>
                </a:lnTo>
                <a:lnTo>
                  <a:pt x="1004036" y="30910"/>
                </a:lnTo>
                <a:lnTo>
                  <a:pt x="993190" y="14823"/>
                </a:lnTo>
                <a:lnTo>
                  <a:pt x="977103" y="3977"/>
                </a:lnTo>
                <a:lnTo>
                  <a:pt x="957402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002129" y="1413013"/>
            <a:ext cx="5207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Tahoma"/>
                <a:cs typeface="Tahoma"/>
              </a:rPr>
              <a:t>Cleaning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2951563" y="1349611"/>
            <a:ext cx="1050290" cy="360045"/>
          </a:xfrm>
          <a:custGeom>
            <a:avLst/>
            <a:gdLst/>
            <a:ahLst/>
            <a:cxnLst/>
            <a:rect l="l" t="t" r="r" b="b"/>
            <a:pathLst>
              <a:path w="1050289" h="360044">
                <a:moveTo>
                  <a:pt x="999378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309393"/>
                </a:lnTo>
                <a:lnTo>
                  <a:pt x="3977" y="329093"/>
                </a:lnTo>
                <a:lnTo>
                  <a:pt x="14823" y="345180"/>
                </a:lnTo>
                <a:lnTo>
                  <a:pt x="30910" y="356026"/>
                </a:lnTo>
                <a:lnTo>
                  <a:pt x="50610" y="360004"/>
                </a:lnTo>
                <a:lnTo>
                  <a:pt x="999378" y="360004"/>
                </a:lnTo>
                <a:lnTo>
                  <a:pt x="1019078" y="356026"/>
                </a:lnTo>
                <a:lnTo>
                  <a:pt x="1035165" y="345180"/>
                </a:lnTo>
                <a:lnTo>
                  <a:pt x="1046012" y="329093"/>
                </a:lnTo>
                <a:lnTo>
                  <a:pt x="1049989" y="309393"/>
                </a:lnTo>
                <a:lnTo>
                  <a:pt x="1049989" y="50610"/>
                </a:lnTo>
                <a:lnTo>
                  <a:pt x="1046012" y="30910"/>
                </a:lnTo>
                <a:lnTo>
                  <a:pt x="1035165" y="14823"/>
                </a:lnTo>
                <a:lnTo>
                  <a:pt x="1019078" y="3977"/>
                </a:lnTo>
                <a:lnTo>
                  <a:pt x="999378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985020" y="1426475"/>
            <a:ext cx="9829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 b="1">
                <a:latin typeface="Arial"/>
                <a:cs typeface="Arial"/>
              </a:rPr>
              <a:t>Transformation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4186615" y="1349611"/>
            <a:ext cx="1008380" cy="360045"/>
          </a:xfrm>
          <a:custGeom>
            <a:avLst/>
            <a:gdLst/>
            <a:ahLst/>
            <a:cxnLst/>
            <a:rect l="l" t="t" r="r" b="b"/>
            <a:pathLst>
              <a:path w="1008379" h="360044">
                <a:moveTo>
                  <a:pt x="957402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309393"/>
                </a:lnTo>
                <a:lnTo>
                  <a:pt x="3977" y="329093"/>
                </a:lnTo>
                <a:lnTo>
                  <a:pt x="14823" y="345180"/>
                </a:lnTo>
                <a:lnTo>
                  <a:pt x="30910" y="356026"/>
                </a:lnTo>
                <a:lnTo>
                  <a:pt x="50610" y="360004"/>
                </a:lnTo>
                <a:lnTo>
                  <a:pt x="957402" y="360004"/>
                </a:lnTo>
                <a:lnTo>
                  <a:pt x="977103" y="356026"/>
                </a:lnTo>
                <a:lnTo>
                  <a:pt x="993190" y="345180"/>
                </a:lnTo>
                <a:lnTo>
                  <a:pt x="1004036" y="329093"/>
                </a:lnTo>
                <a:lnTo>
                  <a:pt x="1008013" y="309393"/>
                </a:lnTo>
                <a:lnTo>
                  <a:pt x="1008013" y="50610"/>
                </a:lnTo>
                <a:lnTo>
                  <a:pt x="1004036" y="30910"/>
                </a:lnTo>
                <a:lnTo>
                  <a:pt x="993190" y="14823"/>
                </a:lnTo>
                <a:lnTo>
                  <a:pt x="977103" y="3977"/>
                </a:lnTo>
                <a:lnTo>
                  <a:pt x="957402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4410608" y="1413013"/>
            <a:ext cx="5600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Modeling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575953" y="1507345"/>
            <a:ext cx="2608580" cy="45085"/>
            <a:chOff x="1575953" y="1507345"/>
            <a:chExt cx="2608580" cy="45085"/>
          </a:xfrm>
        </p:grpSpPr>
        <p:sp>
          <p:nvSpPr>
            <p:cNvPr id="13" name="object 13" descr=""/>
            <p:cNvSpPr/>
            <p:nvPr/>
          </p:nvSpPr>
          <p:spPr>
            <a:xfrm>
              <a:off x="1575953" y="1529613"/>
              <a:ext cx="174625" cy="0"/>
            </a:xfrm>
            <a:custGeom>
              <a:avLst/>
              <a:gdLst/>
              <a:ahLst/>
              <a:cxnLst/>
              <a:rect l="l" t="t" r="r" b="b"/>
              <a:pathLst>
                <a:path w="174625" h="0">
                  <a:moveTo>
                    <a:pt x="0" y="0"/>
                  </a:moveTo>
                  <a:lnTo>
                    <a:pt x="174182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734952" y="150936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769030" y="1529613"/>
              <a:ext cx="174625" cy="0"/>
            </a:xfrm>
            <a:custGeom>
              <a:avLst/>
              <a:gdLst/>
              <a:ahLst/>
              <a:cxnLst/>
              <a:rect l="l" t="t" r="r" b="b"/>
              <a:pathLst>
                <a:path w="174625" h="0">
                  <a:moveTo>
                    <a:pt x="0" y="0"/>
                  </a:moveTo>
                  <a:lnTo>
                    <a:pt x="174181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928029" y="150936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004083" y="1529613"/>
              <a:ext cx="174625" cy="0"/>
            </a:xfrm>
            <a:custGeom>
              <a:avLst/>
              <a:gdLst/>
              <a:ahLst/>
              <a:cxnLst/>
              <a:rect l="l" t="t" r="r" b="b"/>
              <a:pathLst>
                <a:path w="174625" h="0">
                  <a:moveTo>
                    <a:pt x="0" y="0"/>
                  </a:moveTo>
                  <a:lnTo>
                    <a:pt x="174181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163082" y="150936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0" name="object 20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24" name="object 24" descr=""/>
          <p:cNvSpPr txBox="1"/>
          <p:nvPr/>
        </p:nvSpPr>
        <p:spPr>
          <a:xfrm>
            <a:off x="1960460" y="3135783"/>
            <a:ext cx="183896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Transformation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Techniques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17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67183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Mapping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19479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29512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19300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709115"/>
            <a:ext cx="52590" cy="5259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860943"/>
            <a:ext cx="52590" cy="5259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402932" y="992261"/>
            <a:ext cx="3675379" cy="1174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71475">
              <a:lnSpc>
                <a:spcPct val="125299"/>
              </a:lnSpc>
              <a:spcBef>
                <a:spcPts val="100"/>
              </a:spcBef>
            </a:pPr>
            <a:r>
              <a:rPr dirty="0" sz="1100" spc="-30">
                <a:latin typeface="Tahoma"/>
                <a:cs typeface="Tahoma"/>
              </a:rPr>
              <a:t>Converts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categorical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values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numerical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representations. </a:t>
            </a:r>
            <a:r>
              <a:rPr dirty="0" sz="1100">
                <a:latin typeface="Tahoma"/>
                <a:cs typeface="Tahoma"/>
              </a:rPr>
              <a:t>Often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called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label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encoding.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100" spc="-10" b="1">
                <a:latin typeface="Arial"/>
                <a:cs typeface="Arial"/>
              </a:rPr>
              <a:t>Example: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dirty="0" sz="1000" spc="-35">
                <a:latin typeface="Tahoma"/>
                <a:cs typeface="Tahoma"/>
              </a:rPr>
              <a:t>Gender: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Male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→</a:t>
            </a:r>
            <a:r>
              <a:rPr dirty="0" sz="1000" spc="1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1,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Female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→</a:t>
            </a:r>
            <a:r>
              <a:rPr dirty="0" sz="1000" spc="10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</a:pPr>
            <a:r>
              <a:rPr dirty="0" sz="1000" spc="-10">
                <a:latin typeface="Tahoma"/>
                <a:cs typeface="Tahoma"/>
              </a:rPr>
              <a:t>Education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Level:</a:t>
            </a:r>
            <a:r>
              <a:rPr dirty="0" sz="1000" spc="6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High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School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→</a:t>
            </a:r>
            <a:r>
              <a:rPr dirty="0" sz="1000" spc="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1,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Bachelor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→ </a:t>
            </a:r>
            <a:r>
              <a:rPr dirty="0" sz="1000">
                <a:latin typeface="Tahoma"/>
                <a:cs typeface="Tahoma"/>
              </a:rPr>
              <a:t>2,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Master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→ </a:t>
            </a:r>
            <a:r>
              <a:rPr dirty="0" sz="1000" spc="-50"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100" spc="-25">
                <a:latin typeface="Tahoma"/>
                <a:cs typeface="Tahoma"/>
              </a:rPr>
              <a:t>Essential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5">
                <a:latin typeface="Tahoma"/>
                <a:cs typeface="Tahoma"/>
              </a:rPr>
              <a:t> algorithms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40">
                <a:latin typeface="Tahoma"/>
                <a:cs typeface="Tahoma"/>
              </a:rPr>
              <a:t> require</a:t>
            </a:r>
            <a:r>
              <a:rPr dirty="0" sz="1100" spc="-35">
                <a:latin typeface="Tahoma"/>
                <a:cs typeface="Tahoma"/>
              </a:rPr>
              <a:t> numeric </a:t>
            </a:r>
            <a:r>
              <a:rPr dirty="0" sz="1100" spc="-10">
                <a:latin typeface="Tahoma"/>
                <a:cs typeface="Tahoma"/>
              </a:rPr>
              <a:t>input.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058301"/>
            <a:ext cx="65265" cy="65265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1" name="object 11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1960460" y="3135783"/>
            <a:ext cx="183896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Data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Transformation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Techniques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in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Machine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17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Quantization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08799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18831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08620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598421"/>
            <a:ext cx="52590" cy="5259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750250"/>
            <a:ext cx="52590" cy="5259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1902091"/>
            <a:ext cx="52590" cy="5259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0865" y="2053920"/>
            <a:ext cx="52590" cy="5259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02932" y="881568"/>
            <a:ext cx="3002915" cy="147828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97155">
              <a:lnSpc>
                <a:spcPct val="119200"/>
              </a:lnSpc>
              <a:spcBef>
                <a:spcPts val="180"/>
              </a:spcBef>
            </a:pPr>
            <a:r>
              <a:rPr dirty="0" sz="1100" spc="-30">
                <a:latin typeface="Tahoma"/>
                <a:cs typeface="Tahoma"/>
              </a:rPr>
              <a:t>Converts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continuous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into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discrete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categories. </a:t>
            </a:r>
            <a:r>
              <a:rPr dirty="0" sz="1100" spc="-25">
                <a:latin typeface="Tahoma"/>
                <a:cs typeface="Tahoma"/>
              </a:rPr>
              <a:t>Useful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reducing </a:t>
            </a:r>
            <a:r>
              <a:rPr dirty="0" sz="1100" spc="-50">
                <a:latin typeface="Tahoma"/>
                <a:cs typeface="Tahoma"/>
              </a:rPr>
              <a:t>noise</a:t>
            </a:r>
            <a:r>
              <a:rPr dirty="0" sz="1100" spc="-35">
                <a:latin typeface="Tahoma"/>
                <a:cs typeface="Tahoma"/>
              </a:rPr>
              <a:t> and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model </a:t>
            </a:r>
            <a:r>
              <a:rPr dirty="0" sz="1100" spc="-10">
                <a:latin typeface="Tahoma"/>
                <a:cs typeface="Tahoma"/>
              </a:rPr>
              <a:t>complexity. </a:t>
            </a:r>
            <a:r>
              <a:rPr dirty="0" sz="1100" spc="-35" b="1">
                <a:latin typeface="Arial"/>
                <a:cs typeface="Arial"/>
              </a:rPr>
              <a:t>Example:</a:t>
            </a:r>
            <a:r>
              <a:rPr dirty="0" sz="1100" spc="9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Age Quantization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dirty="0" sz="1000" spc="-50">
                <a:latin typeface="Tahoma"/>
                <a:cs typeface="Tahoma"/>
              </a:rPr>
              <a:t>0–12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→</a:t>
            </a:r>
            <a:r>
              <a:rPr dirty="0" sz="1000" spc="40" i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Child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5"/>
              </a:lnSpc>
            </a:pPr>
            <a:r>
              <a:rPr dirty="0" sz="1000" spc="-55">
                <a:latin typeface="Tahoma"/>
                <a:cs typeface="Tahoma"/>
              </a:rPr>
              <a:t>13–19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→</a:t>
            </a:r>
            <a:r>
              <a:rPr dirty="0" sz="1000" spc="50" i="1">
                <a:latin typeface="Arial"/>
                <a:cs typeface="Arial"/>
              </a:rPr>
              <a:t> </a:t>
            </a:r>
            <a:r>
              <a:rPr dirty="0" sz="1000" spc="-20">
                <a:latin typeface="Tahoma"/>
                <a:cs typeface="Tahoma"/>
              </a:rPr>
              <a:t>Teen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5"/>
              </a:lnSpc>
            </a:pPr>
            <a:r>
              <a:rPr dirty="0" sz="1000" spc="-55">
                <a:latin typeface="Tahoma"/>
                <a:cs typeface="Tahoma"/>
              </a:rPr>
              <a:t>20–59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→</a:t>
            </a:r>
            <a:r>
              <a:rPr dirty="0" sz="1000" spc="50" i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Adult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</a:pPr>
            <a:r>
              <a:rPr dirty="0" sz="1000">
                <a:latin typeface="Tahoma"/>
                <a:cs typeface="Tahoma"/>
              </a:rPr>
              <a:t>60+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→</a:t>
            </a:r>
            <a:r>
              <a:rPr dirty="0" sz="1000" spc="25" i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Senior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100">
                <a:latin typeface="Tahoma"/>
                <a:cs typeface="Tahoma"/>
              </a:rPr>
              <a:t>Often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used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decision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trees</a:t>
            </a:r>
            <a:r>
              <a:rPr dirty="0" sz="1100" spc="-35">
                <a:latin typeface="Tahoma"/>
                <a:cs typeface="Tahoma"/>
              </a:rPr>
              <a:t> 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rule-</a:t>
            </a:r>
            <a:r>
              <a:rPr dirty="0" sz="1100" spc="-45">
                <a:latin typeface="Tahoma"/>
                <a:cs typeface="Tahoma"/>
              </a:rPr>
              <a:t>based</a:t>
            </a:r>
            <a:r>
              <a:rPr dirty="0" sz="1100" spc="-35">
                <a:latin typeface="Tahoma"/>
                <a:cs typeface="Tahoma"/>
              </a:rPr>
              <a:t> models.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089" y="2251278"/>
            <a:ext cx="65265" cy="6526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3" name="object 13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1960460" y="3135783"/>
            <a:ext cx="183896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Data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Transformation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Techniques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in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Machine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17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Binarization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03502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93278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583093"/>
            <a:ext cx="52590" cy="5259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734921"/>
            <a:ext cx="52590" cy="5259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02932" y="1096515"/>
            <a:ext cx="3552190" cy="944244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100" spc="-45">
                <a:latin typeface="Tahoma"/>
                <a:cs typeface="Tahoma"/>
              </a:rPr>
              <a:t>Transforms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numerical </a:t>
            </a:r>
            <a:r>
              <a:rPr dirty="0" sz="1100" spc="-20">
                <a:latin typeface="Tahoma"/>
                <a:cs typeface="Tahoma"/>
              </a:rPr>
              <a:t>or</a:t>
            </a:r>
            <a:r>
              <a:rPr dirty="0" sz="1100" spc="-35">
                <a:latin typeface="Tahoma"/>
                <a:cs typeface="Tahoma"/>
              </a:rPr>
              <a:t> categorical </a:t>
            </a:r>
            <a:r>
              <a:rPr dirty="0" sz="1100" spc="-45">
                <a:latin typeface="Tahoma"/>
                <a:cs typeface="Tahoma"/>
              </a:rPr>
              <a:t>values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binary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(0/1).</a:t>
            </a:r>
            <a:endParaRPr sz="1100">
              <a:latin typeface="Tahoma"/>
              <a:cs typeface="Tahoma"/>
            </a:endParaRPr>
          </a:p>
          <a:p>
            <a:pPr marL="289560" marR="2049780" indent="-277495">
              <a:lnSpc>
                <a:spcPct val="106400"/>
              </a:lnSpc>
              <a:spcBef>
                <a:spcPts val="90"/>
              </a:spcBef>
            </a:pPr>
            <a:r>
              <a:rPr dirty="0" sz="1100" spc="-35" b="1">
                <a:latin typeface="Arial"/>
                <a:cs typeface="Arial"/>
              </a:rPr>
              <a:t>Example:</a:t>
            </a:r>
            <a:r>
              <a:rPr dirty="0" sz="1100" spc="105" b="1">
                <a:latin typeface="Arial"/>
                <a:cs typeface="Arial"/>
              </a:rPr>
              <a:t> </a:t>
            </a:r>
            <a:r>
              <a:rPr dirty="0" sz="1100" spc="-30" b="1">
                <a:latin typeface="Arial"/>
                <a:cs typeface="Arial"/>
              </a:rPr>
              <a:t>Income</a:t>
            </a:r>
            <a:r>
              <a:rPr dirty="0" sz="1100" b="1">
                <a:latin typeface="Arial"/>
                <a:cs typeface="Arial"/>
              </a:rPr>
              <a:t> </a:t>
            </a:r>
            <a:r>
              <a:rPr dirty="0" sz="1100" spc="-40" b="1">
                <a:latin typeface="Arial"/>
                <a:cs typeface="Arial"/>
              </a:rPr>
              <a:t>Level </a:t>
            </a:r>
            <a:r>
              <a:rPr dirty="0" sz="1000" spc="-20">
                <a:latin typeface="Tahoma"/>
                <a:cs typeface="Tahoma"/>
              </a:rPr>
              <a:t>If</a:t>
            </a:r>
            <a:r>
              <a:rPr dirty="0" sz="1000" spc="-35">
                <a:latin typeface="Tahoma"/>
                <a:cs typeface="Tahoma"/>
              </a:rPr>
              <a:t> income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i="1">
                <a:latin typeface="Verdana"/>
                <a:cs typeface="Verdana"/>
              </a:rPr>
              <a:t>&gt;</a:t>
            </a:r>
            <a:r>
              <a:rPr dirty="0" sz="1000" spc="-65" i="1">
                <a:latin typeface="Verdana"/>
                <a:cs typeface="Verdana"/>
              </a:rPr>
              <a:t> </a:t>
            </a:r>
            <a:r>
              <a:rPr dirty="0" sz="1000" spc="-20">
                <a:latin typeface="Tahoma"/>
                <a:cs typeface="Tahoma"/>
              </a:rPr>
              <a:t>50k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→</a:t>
            </a:r>
            <a:r>
              <a:rPr dirty="0" sz="1000" spc="5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1 </a:t>
            </a:r>
            <a:r>
              <a:rPr dirty="0" sz="1000" spc="-10">
                <a:latin typeface="Tahoma"/>
                <a:cs typeface="Tahoma"/>
              </a:rPr>
              <a:t>Else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→</a:t>
            </a:r>
            <a:r>
              <a:rPr dirty="0" sz="1000" spc="10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100" spc="-25">
                <a:latin typeface="Tahoma"/>
                <a:cs typeface="Tahoma"/>
              </a:rPr>
              <a:t>Useful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classification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tasks</a:t>
            </a:r>
            <a:r>
              <a:rPr dirty="0" sz="1100" spc="-35">
                <a:latin typeface="Tahoma"/>
                <a:cs typeface="Tahoma"/>
              </a:rPr>
              <a:t> 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simplifying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features.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932279"/>
            <a:ext cx="65265" cy="65265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0" name="object 10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1960460" y="3135783"/>
            <a:ext cx="183896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Data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Transformation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Techniques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in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Machine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17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Normalization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495363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819264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983767"/>
            <a:ext cx="52590" cy="5259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135595"/>
            <a:ext cx="52590" cy="5259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02932" y="411910"/>
            <a:ext cx="5120005" cy="99186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10" b="1">
                <a:latin typeface="Arial"/>
                <a:cs typeface="Arial"/>
              </a:rPr>
              <a:t>Definition:</a:t>
            </a:r>
            <a:r>
              <a:rPr dirty="0" sz="1100" spc="90" b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Normalization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process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rescaling </a:t>
            </a:r>
            <a:r>
              <a:rPr dirty="0" sz="1100" spc="-35">
                <a:latin typeface="Tahoma"/>
                <a:cs typeface="Tahoma"/>
              </a:rPr>
              <a:t>feature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values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fall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within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 </a:t>
            </a:r>
            <a:r>
              <a:rPr dirty="0" sz="1100" spc="-25">
                <a:latin typeface="Tahoma"/>
                <a:cs typeface="Tahoma"/>
              </a:rPr>
              <a:t>specific </a:t>
            </a:r>
            <a:r>
              <a:rPr dirty="0" sz="1100" spc="-55">
                <a:latin typeface="Tahoma"/>
                <a:cs typeface="Tahoma"/>
              </a:rPr>
              <a:t>range,</a:t>
            </a:r>
            <a:r>
              <a:rPr dirty="0" sz="1100" spc="-20">
                <a:latin typeface="Tahoma"/>
                <a:cs typeface="Tahoma"/>
              </a:rPr>
              <a:t> typically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[0,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1].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ts val="1185"/>
              </a:lnSpc>
            </a:pPr>
            <a:r>
              <a:rPr dirty="0" sz="1100" spc="-10" b="1">
                <a:latin typeface="Arial"/>
                <a:cs typeface="Arial"/>
              </a:rPr>
              <a:t>Purpose:</a:t>
            </a:r>
            <a:endParaRPr sz="1100">
              <a:latin typeface="Arial"/>
              <a:cs typeface="Arial"/>
            </a:endParaRPr>
          </a:p>
          <a:p>
            <a:pPr marL="289560" marR="438150">
              <a:lnSpc>
                <a:spcPts val="1200"/>
              </a:lnSpc>
              <a:spcBef>
                <a:spcPts val="30"/>
              </a:spcBef>
            </a:pPr>
            <a:r>
              <a:rPr dirty="0" sz="1000" spc="-20">
                <a:latin typeface="Tahoma"/>
                <a:cs typeface="Tahoma"/>
              </a:rPr>
              <a:t>Makes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features</a:t>
            </a:r>
            <a:r>
              <a:rPr dirty="0" sz="1000" spc="-30">
                <a:latin typeface="Tahoma"/>
                <a:cs typeface="Tahoma"/>
              </a:rPr>
              <a:t> equally </a:t>
            </a:r>
            <a:r>
              <a:rPr dirty="0" sz="1000" spc="-45">
                <a:latin typeface="Tahoma"/>
                <a:cs typeface="Tahoma"/>
              </a:rPr>
              <a:t>weighted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distance-</a:t>
            </a:r>
            <a:r>
              <a:rPr dirty="0" sz="1000" spc="-35">
                <a:latin typeface="Tahoma"/>
                <a:cs typeface="Tahoma"/>
              </a:rPr>
              <a:t>based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models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(like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55">
                <a:latin typeface="Tahoma"/>
                <a:cs typeface="Tahoma"/>
              </a:rPr>
              <a:t>KNN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K-</a:t>
            </a:r>
            <a:r>
              <a:rPr dirty="0" sz="1000" spc="-10">
                <a:latin typeface="Tahoma"/>
                <a:cs typeface="Tahoma"/>
              </a:rPr>
              <a:t>Means). </a:t>
            </a:r>
            <a:r>
              <a:rPr dirty="0" sz="1000" spc="-30">
                <a:latin typeface="Tahoma"/>
                <a:cs typeface="Tahoma"/>
              </a:rPr>
              <a:t>Prevents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features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with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larger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ranges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30">
                <a:latin typeface="Tahoma"/>
                <a:cs typeface="Tahoma"/>
              </a:rPr>
              <a:t> dominating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learning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process.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100" spc="-40" b="1">
                <a:latin typeface="Arial"/>
                <a:cs typeface="Arial"/>
              </a:rPr>
              <a:t>Common</a:t>
            </a:r>
            <a:r>
              <a:rPr dirty="0" sz="1100" spc="9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Method:</a:t>
            </a:r>
            <a:r>
              <a:rPr dirty="0" sz="1100" spc="2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Min-Max</a:t>
            </a:r>
            <a:r>
              <a:rPr dirty="0" sz="1100" spc="9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Normalization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295006"/>
            <a:ext cx="65265" cy="6526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368448" y="1477402"/>
            <a:ext cx="118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460802" y="1535517"/>
            <a:ext cx="2540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i="1">
                <a:latin typeface="Trebuchet MS"/>
                <a:cs typeface="Trebuchet MS"/>
              </a:rPr>
              <a:t>norm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710357" y="1383676"/>
            <a:ext cx="969010" cy="285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99390">
              <a:lnSpc>
                <a:spcPts val="1030"/>
              </a:lnSpc>
              <a:spcBef>
                <a:spcPts val="90"/>
              </a:spcBef>
            </a:pPr>
            <a:r>
              <a:rPr dirty="0" u="sng" sz="1100" spc="42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dirty="0" u="sng" sz="1100" spc="8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 spc="2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−</a:t>
            </a:r>
            <a:r>
              <a:rPr dirty="0" u="sng" sz="1100" spc="-7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 spc="-2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dirty="0" u="sng" baseline="-10416" sz="1200" spc="-3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min</a:t>
            </a:r>
            <a:r>
              <a:rPr dirty="0" u="sng" baseline="-10416" sz="1200" spc="75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endParaRPr baseline="-10416" sz="1200">
              <a:latin typeface="Trebuchet MS"/>
              <a:cs typeface="Trebuchet MS"/>
            </a:endParaRPr>
          </a:p>
          <a:p>
            <a:pPr marL="38100">
              <a:lnSpc>
                <a:spcPts val="1030"/>
              </a:lnSpc>
            </a:pP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871774" y="1594089"/>
            <a:ext cx="799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i="1">
                <a:latin typeface="Arial"/>
                <a:cs typeface="Arial"/>
              </a:rPr>
              <a:t>X</a:t>
            </a:r>
            <a:r>
              <a:rPr dirty="0" sz="800" i="1">
                <a:latin typeface="Trebuchet MS"/>
                <a:cs typeface="Trebuchet MS"/>
              </a:rPr>
              <a:t>max</a:t>
            </a:r>
            <a:r>
              <a:rPr dirty="0" sz="800" spc="80" i="1">
                <a:latin typeface="Trebuchet MS"/>
                <a:cs typeface="Trebuchet MS"/>
              </a:rPr>
              <a:t> </a:t>
            </a:r>
            <a:r>
              <a:rPr dirty="0" baseline="7575" sz="1650" spc="300" i="1">
                <a:latin typeface="Arial"/>
                <a:cs typeface="Arial"/>
              </a:rPr>
              <a:t>−</a:t>
            </a:r>
            <a:r>
              <a:rPr dirty="0" baseline="7575" sz="1650" spc="-112" i="1">
                <a:latin typeface="Arial"/>
                <a:cs typeface="Arial"/>
              </a:rPr>
              <a:t> </a:t>
            </a:r>
            <a:r>
              <a:rPr dirty="0" baseline="7575" sz="1650" spc="-30" i="1">
                <a:latin typeface="Arial"/>
                <a:cs typeface="Arial"/>
              </a:rPr>
              <a:t>X</a:t>
            </a:r>
            <a:r>
              <a:rPr dirty="0" sz="800" spc="-20" i="1">
                <a:latin typeface="Trebuchet MS"/>
                <a:cs typeface="Trebuchet MS"/>
              </a:rPr>
              <a:t>min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2014169"/>
            <a:ext cx="52590" cy="5259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0865" y="2165997"/>
            <a:ext cx="52590" cy="52590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377532" y="1766213"/>
            <a:ext cx="4804410" cy="6673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1310"/>
              </a:lnSpc>
              <a:spcBef>
                <a:spcPts val="90"/>
              </a:spcBef>
            </a:pPr>
            <a:r>
              <a:rPr dirty="0" sz="1100" spc="-10">
                <a:latin typeface="Tahoma"/>
                <a:cs typeface="Tahoma"/>
              </a:rPr>
              <a:t>Where:</a:t>
            </a:r>
            <a:endParaRPr sz="1100">
              <a:latin typeface="Tahoma"/>
              <a:cs typeface="Tahoma"/>
            </a:endParaRPr>
          </a:p>
          <a:p>
            <a:pPr marL="314960">
              <a:lnSpc>
                <a:spcPts val="1185"/>
              </a:lnSpc>
            </a:pP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180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original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value</a:t>
            </a:r>
            <a:endParaRPr sz="1000">
              <a:latin typeface="Tahoma"/>
              <a:cs typeface="Tahoma"/>
            </a:endParaRPr>
          </a:p>
          <a:p>
            <a:pPr marL="314960">
              <a:lnSpc>
                <a:spcPts val="1200"/>
              </a:lnSpc>
            </a:pPr>
            <a:r>
              <a:rPr dirty="0" sz="1000" spc="-10" i="1">
                <a:latin typeface="Arial"/>
                <a:cs typeface="Arial"/>
              </a:rPr>
              <a:t>X</a:t>
            </a:r>
            <a:r>
              <a:rPr dirty="0" baseline="-11904" sz="1050" spc="-15" i="1">
                <a:latin typeface="Trebuchet MS"/>
                <a:cs typeface="Trebuchet MS"/>
              </a:rPr>
              <a:t>min</a:t>
            </a:r>
            <a:r>
              <a:rPr dirty="0" baseline="-11904" sz="1050" spc="-225" i="1">
                <a:latin typeface="Trebuchet MS"/>
                <a:cs typeface="Trebuchet MS"/>
              </a:rPr>
              <a:t> </a:t>
            </a:r>
            <a:r>
              <a:rPr dirty="0" sz="1000">
                <a:latin typeface="Tahoma"/>
                <a:cs typeface="Tahoma"/>
              </a:rPr>
              <a:t>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baseline="-11904" sz="1050" i="1">
                <a:latin typeface="Trebuchet MS"/>
                <a:cs typeface="Trebuchet MS"/>
              </a:rPr>
              <a:t>max</a:t>
            </a:r>
            <a:r>
              <a:rPr dirty="0" baseline="-11904" sz="1050" spc="284" i="1">
                <a:latin typeface="Trebuchet MS"/>
                <a:cs typeface="Trebuchet MS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minimum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maximum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values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column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dirty="0" sz="1100" spc="-35" b="1">
                <a:latin typeface="Arial"/>
                <a:cs typeface="Arial"/>
              </a:rPr>
              <a:t>Example:</a:t>
            </a:r>
            <a:r>
              <a:rPr dirty="0" sz="1100" spc="75" b="1">
                <a:latin typeface="Arial"/>
                <a:cs typeface="Arial"/>
              </a:rPr>
              <a:t> </a:t>
            </a:r>
            <a:r>
              <a:rPr dirty="0" sz="1100" spc="-45">
                <a:latin typeface="Tahoma"/>
                <a:cs typeface="Tahoma"/>
              </a:rPr>
              <a:t>Suppose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heights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range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150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cm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200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cm.</a:t>
            </a:r>
            <a:r>
              <a:rPr dirty="0" sz="1100" spc="6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someone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170 </a:t>
            </a:r>
            <a:r>
              <a:rPr dirty="0" sz="1100" spc="-25">
                <a:latin typeface="Tahoma"/>
                <a:cs typeface="Tahoma"/>
              </a:rPr>
              <a:t>cm: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089" y="2325395"/>
            <a:ext cx="65265" cy="65265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2532481" y="2435630"/>
            <a:ext cx="6108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Tahoma"/>
                <a:cs typeface="Tahoma"/>
              </a:rPr>
              <a:t>170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200" i="1">
                <a:latin typeface="Arial"/>
                <a:cs typeface="Arial"/>
              </a:rPr>
              <a:t>−</a:t>
            </a:r>
            <a:r>
              <a:rPr dirty="0" sz="1100" spc="-65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150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2545181" y="2645956"/>
            <a:ext cx="585470" cy="0"/>
          </a:xfrm>
          <a:custGeom>
            <a:avLst/>
            <a:gdLst/>
            <a:ahLst/>
            <a:cxnLst/>
            <a:rect l="l" t="t" r="r" b="b"/>
            <a:pathLst>
              <a:path w="585469" h="0">
                <a:moveTo>
                  <a:pt x="0" y="0"/>
                </a:moveTo>
                <a:lnTo>
                  <a:pt x="58497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2532481" y="2624390"/>
            <a:ext cx="6108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Tahoma"/>
                <a:cs typeface="Tahoma"/>
              </a:rPr>
              <a:t>200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200" i="1">
                <a:latin typeface="Arial"/>
                <a:cs typeface="Arial"/>
              </a:rPr>
              <a:t>−</a:t>
            </a:r>
            <a:r>
              <a:rPr dirty="0" sz="1100" spc="-65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150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171113" y="2529356"/>
            <a:ext cx="349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= </a:t>
            </a:r>
            <a:r>
              <a:rPr dirty="0" sz="1100" spc="-50">
                <a:latin typeface="Tahoma"/>
                <a:cs typeface="Tahoma"/>
              </a:rPr>
              <a:t>0</a:t>
            </a:r>
            <a:r>
              <a:rPr dirty="0" sz="1100" spc="-50" i="1">
                <a:latin typeface="Verdana"/>
                <a:cs typeface="Verdana"/>
              </a:rPr>
              <a:t>.</a:t>
            </a:r>
            <a:r>
              <a:rPr dirty="0" sz="1100" spc="-50">
                <a:latin typeface="Tahoma"/>
                <a:cs typeface="Tahoma"/>
              </a:rPr>
              <a:t>4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1089" y="2891510"/>
            <a:ext cx="65265" cy="65265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0865" y="3056013"/>
            <a:ext cx="52590" cy="52590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402932" y="2808057"/>
            <a:ext cx="2431415" cy="3416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310"/>
              </a:lnSpc>
              <a:spcBef>
                <a:spcPts val="90"/>
              </a:spcBef>
            </a:pPr>
            <a:r>
              <a:rPr dirty="0" sz="1100" b="1">
                <a:latin typeface="Arial"/>
                <a:cs typeface="Arial"/>
              </a:rPr>
              <a:t>When</a:t>
            </a:r>
            <a:r>
              <a:rPr dirty="0" sz="1100" spc="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to</a:t>
            </a:r>
            <a:r>
              <a:rPr dirty="0" sz="1100" spc="4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Use: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ts val="1190"/>
              </a:lnSpc>
            </a:pPr>
            <a:r>
              <a:rPr dirty="0" sz="1000" spc="-20">
                <a:latin typeface="Tahoma"/>
                <a:cs typeface="Tahoma"/>
              </a:rPr>
              <a:t>When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you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need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values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bounded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[0,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1]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5" name="object 25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692734" y="3166940"/>
            <a:ext cx="1210945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55"/>
              </a:lnSpc>
            </a:pPr>
            <a:r>
              <a:rPr dirty="0" sz="1000" spc="-20">
                <a:latin typeface="Tahoma"/>
                <a:cs typeface="Tahoma"/>
              </a:rPr>
              <a:t>When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using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algorithms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945483" y="3166940"/>
            <a:ext cx="1882139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55"/>
              </a:lnSpc>
            </a:pPr>
            <a:r>
              <a:rPr dirty="0" sz="1000" spc="-40">
                <a:latin typeface="Tahoma"/>
                <a:cs typeface="Tahoma"/>
              </a:rPr>
              <a:t>sensitive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feature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scale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(e.g.,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neur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827265" y="3166940"/>
            <a:ext cx="987425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55"/>
              </a:lnSpc>
            </a:pPr>
            <a:r>
              <a:rPr dirty="0" sz="1000" spc="-45">
                <a:latin typeface="Tahoma"/>
                <a:cs typeface="Tahoma"/>
              </a:rPr>
              <a:t>networks,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165">
                <a:latin typeface="Tahoma"/>
                <a:cs typeface="Tahoma"/>
              </a:rPr>
              <a:t>KNN</a:t>
            </a:r>
            <a:r>
              <a:rPr dirty="0" sz="1000" spc="-7034">
                <a:latin typeface="Tahoma"/>
                <a:cs typeface="Tahoma"/>
              </a:rPr>
              <a:t>)</a:t>
            </a:r>
            <a:r>
              <a:rPr dirty="0" sz="1000" spc="165">
                <a:latin typeface="Tahoma"/>
                <a:cs typeface="Tahoma"/>
              </a:rPr>
              <a:t>al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32" name="object 32" descr=""/>
          <p:cNvSpPr txBox="1"/>
          <p:nvPr/>
        </p:nvSpPr>
        <p:spPr>
          <a:xfrm>
            <a:off x="1960460" y="3135783"/>
            <a:ext cx="183896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Data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Transformation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Techniques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in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Machine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34" name="object 3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9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17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Scaling</a:t>
            </a:r>
            <a:r>
              <a:rPr dirty="0" spc="-50"/>
              <a:t> </a:t>
            </a:r>
            <a:r>
              <a:rPr dirty="0" spc="-30"/>
              <a:t>(Standardization)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18438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791207"/>
            <a:ext cx="4424045" cy="65595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35">
                <a:latin typeface="Tahoma"/>
                <a:cs typeface="Tahoma"/>
              </a:rPr>
              <a:t>Centers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features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around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mean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0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std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1.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100" spc="-25">
                <a:latin typeface="Tahoma"/>
                <a:cs typeface="Tahoma"/>
              </a:rPr>
              <a:t>Useful</a:t>
            </a:r>
            <a:r>
              <a:rPr dirty="0" sz="1100" spc="-20">
                <a:latin typeface="Tahoma"/>
                <a:cs typeface="Tahoma"/>
              </a:rPr>
              <a:t> for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models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sensitive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feature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scales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(e.g.,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SVM,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logistic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regression).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-10" b="1">
                <a:latin typeface="Arial"/>
                <a:cs typeface="Arial"/>
              </a:rPr>
              <a:t>Formula: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28471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338503"/>
            <a:ext cx="65265" cy="6526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502115" y="1480209"/>
            <a:ext cx="6007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10101" sz="1650" spc="-15" i="1">
                <a:latin typeface="Arial"/>
                <a:cs typeface="Arial"/>
              </a:rPr>
              <a:t>X</a:t>
            </a:r>
            <a:r>
              <a:rPr dirty="0" sz="800" spc="-10" i="1">
                <a:latin typeface="Trebuchet MS"/>
                <a:cs typeface="Trebuchet MS"/>
              </a:rPr>
              <a:t>scaled</a:t>
            </a:r>
            <a:r>
              <a:rPr dirty="0" sz="800" spc="95" i="1">
                <a:latin typeface="Trebuchet MS"/>
                <a:cs typeface="Trebuchet MS"/>
              </a:rPr>
              <a:t> </a:t>
            </a:r>
            <a:r>
              <a:rPr dirty="0" baseline="10101" sz="1650" spc="-75">
                <a:latin typeface="Tahoma"/>
                <a:cs typeface="Tahoma"/>
              </a:rPr>
              <a:t>=</a:t>
            </a:r>
            <a:endParaRPr baseline="10101" sz="165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05289" y="1363915"/>
            <a:ext cx="3892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70" i="1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−</a:t>
            </a:r>
            <a:r>
              <a:rPr dirty="0" sz="1100" spc="-70" i="1">
                <a:latin typeface="Arial"/>
                <a:cs typeface="Arial"/>
              </a:rPr>
              <a:t> </a:t>
            </a:r>
            <a:r>
              <a:rPr dirty="0" sz="1100" spc="-50" i="1">
                <a:latin typeface="Verdana"/>
                <a:cs typeface="Verdana"/>
              </a:rPr>
              <a:t>µ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117989" y="1574253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 h="0">
                <a:moveTo>
                  <a:pt x="0" y="0"/>
                </a:moveTo>
                <a:lnTo>
                  <a:pt x="36370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3245065" y="1552675"/>
            <a:ext cx="1047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Verdana"/>
                <a:cs typeface="Verdana"/>
              </a:rPr>
              <a:t>σ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27237"/>
            <a:ext cx="65265" cy="65265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402932" y="1743784"/>
            <a:ext cx="35394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1">
                <a:latin typeface="Arial"/>
                <a:cs typeface="Arial"/>
              </a:rPr>
              <a:t>Example:</a:t>
            </a:r>
            <a:r>
              <a:rPr dirty="0" sz="1100" spc="110" b="1">
                <a:latin typeface="Arial"/>
                <a:cs typeface="Arial"/>
              </a:rPr>
              <a:t> </a:t>
            </a:r>
            <a:r>
              <a:rPr dirty="0" sz="1100" spc="55">
                <a:latin typeface="Tahoma"/>
                <a:cs typeface="Tahoma"/>
              </a:rPr>
              <a:t>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value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20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mean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10, </a:t>
            </a:r>
            <a:r>
              <a:rPr dirty="0" sz="1100">
                <a:latin typeface="Tahoma"/>
                <a:cs typeface="Tahoma"/>
              </a:rPr>
              <a:t>std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5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becomes: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601760" y="2013380"/>
            <a:ext cx="4724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Tahoma"/>
                <a:cs typeface="Tahoma"/>
              </a:rPr>
              <a:t>20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200" i="1">
                <a:latin typeface="Arial"/>
                <a:cs typeface="Arial"/>
              </a:rPr>
              <a:t>−</a:t>
            </a:r>
            <a:r>
              <a:rPr dirty="0" sz="1100" spc="-65" i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10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2614460" y="2223719"/>
            <a:ext cx="447040" cy="0"/>
          </a:xfrm>
          <a:custGeom>
            <a:avLst/>
            <a:gdLst/>
            <a:ahLst/>
            <a:cxnLst/>
            <a:rect l="l" t="t" r="r" b="b"/>
            <a:pathLst>
              <a:path w="447039" h="0">
                <a:moveTo>
                  <a:pt x="0" y="0"/>
                </a:moveTo>
                <a:lnTo>
                  <a:pt x="44641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2790329" y="2202140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5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101848" y="2107106"/>
            <a:ext cx="349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= </a:t>
            </a:r>
            <a:r>
              <a:rPr dirty="0" sz="1100" spc="-50">
                <a:latin typeface="Tahoma"/>
                <a:cs typeface="Tahoma"/>
              </a:rPr>
              <a:t>2</a:t>
            </a:r>
            <a:r>
              <a:rPr dirty="0" sz="1100" spc="-50" i="1">
                <a:latin typeface="Verdana"/>
                <a:cs typeface="Verdana"/>
              </a:rPr>
              <a:t>.</a:t>
            </a:r>
            <a:r>
              <a:rPr dirty="0" sz="1100" spc="-5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8" name="object 18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1960460" y="3135783"/>
            <a:ext cx="183896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Data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Transformation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Techniques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in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Machine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10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17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Types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 spc="-20"/>
              <a:t>Scaling</a:t>
            </a:r>
            <a:r>
              <a:rPr dirty="0" spc="-55"/>
              <a:t> </a:t>
            </a:r>
            <a:r>
              <a:rPr dirty="0" spc="-20"/>
              <a:t>(1/3)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953984"/>
            <a:ext cx="13315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latin typeface="Arial"/>
                <a:cs typeface="Arial"/>
              </a:rPr>
              <a:t>1.</a:t>
            </a:r>
            <a:r>
              <a:rPr dirty="0" sz="1100" spc="30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Min-Max</a:t>
            </a:r>
            <a:r>
              <a:rPr dirty="0" sz="1100" spc="150" b="1">
                <a:latin typeface="Arial"/>
                <a:cs typeface="Arial"/>
              </a:rPr>
              <a:t> </a:t>
            </a:r>
            <a:r>
              <a:rPr dirty="0" sz="1100" spc="-45" b="1">
                <a:latin typeface="Arial"/>
                <a:cs typeface="Arial"/>
              </a:rPr>
              <a:t>Scaling: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229891" y="1183511"/>
            <a:ext cx="118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22258" y="1241626"/>
            <a:ext cx="2540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i="1">
                <a:latin typeface="Trebuchet MS"/>
                <a:cs typeface="Trebuchet MS"/>
              </a:rPr>
              <a:t>norm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571813" y="1089785"/>
            <a:ext cx="969010" cy="285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99390">
              <a:lnSpc>
                <a:spcPts val="1030"/>
              </a:lnSpc>
              <a:spcBef>
                <a:spcPts val="90"/>
              </a:spcBef>
            </a:pPr>
            <a:r>
              <a:rPr dirty="0" u="sng" sz="1100" spc="42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dirty="0" u="sng" sz="1100" spc="8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 spc="2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−</a:t>
            </a:r>
            <a:r>
              <a:rPr dirty="0" u="sng" sz="1100" spc="-7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 spc="-2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dirty="0" u="sng" baseline="-10416" sz="1200" spc="-3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min</a:t>
            </a:r>
            <a:r>
              <a:rPr dirty="0" u="sng" baseline="-10416" sz="1200" spc="75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endParaRPr baseline="-10416" sz="1200">
              <a:latin typeface="Trebuchet MS"/>
              <a:cs typeface="Trebuchet MS"/>
            </a:endParaRPr>
          </a:p>
          <a:p>
            <a:pPr marL="38100">
              <a:lnSpc>
                <a:spcPts val="1030"/>
              </a:lnSpc>
            </a:pP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733230" y="1300199"/>
            <a:ext cx="799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i="1">
                <a:latin typeface="Arial"/>
                <a:cs typeface="Arial"/>
              </a:rPr>
              <a:t>X</a:t>
            </a:r>
            <a:r>
              <a:rPr dirty="0" sz="800" i="1">
                <a:latin typeface="Trebuchet MS"/>
                <a:cs typeface="Trebuchet MS"/>
              </a:rPr>
              <a:t>max</a:t>
            </a:r>
            <a:r>
              <a:rPr dirty="0" sz="800" spc="80" i="1">
                <a:latin typeface="Trebuchet MS"/>
                <a:cs typeface="Trebuchet MS"/>
              </a:rPr>
              <a:t> </a:t>
            </a:r>
            <a:r>
              <a:rPr dirty="0" baseline="7575" sz="1650" spc="300" i="1">
                <a:latin typeface="Arial"/>
                <a:cs typeface="Arial"/>
              </a:rPr>
              <a:t>−</a:t>
            </a:r>
            <a:r>
              <a:rPr dirty="0" baseline="7575" sz="1650" spc="-112" i="1">
                <a:latin typeface="Arial"/>
                <a:cs typeface="Arial"/>
              </a:rPr>
              <a:t> </a:t>
            </a:r>
            <a:r>
              <a:rPr dirty="0" baseline="7575" sz="1650" spc="-30" i="1">
                <a:latin typeface="Arial"/>
                <a:cs typeface="Arial"/>
              </a:rPr>
              <a:t>X</a:t>
            </a:r>
            <a:r>
              <a:rPr dirty="0" sz="800" spc="-20" i="1">
                <a:latin typeface="Trebuchet MS"/>
                <a:cs typeface="Trebuchet MS"/>
              </a:rPr>
              <a:t>min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731314"/>
            <a:ext cx="65265" cy="65265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dirty="0"/>
              <a:t>Best</a:t>
            </a:r>
            <a:r>
              <a:rPr dirty="0" spc="-35"/>
              <a:t> </a:t>
            </a:r>
            <a:r>
              <a:rPr dirty="0" spc="-55"/>
              <a:t>when</a:t>
            </a:r>
            <a:r>
              <a:rPr dirty="0" spc="-25"/>
              <a:t> </a:t>
            </a:r>
            <a:r>
              <a:rPr dirty="0" spc="-45"/>
              <a:t>you</a:t>
            </a:r>
            <a:r>
              <a:rPr dirty="0" spc="-30"/>
              <a:t> </a:t>
            </a:r>
            <a:r>
              <a:rPr dirty="0" spc="-35"/>
              <a:t>want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 spc="-50"/>
              <a:t>bounded</a:t>
            </a:r>
            <a:r>
              <a:rPr dirty="0" spc="-30"/>
              <a:t> </a:t>
            </a:r>
            <a:r>
              <a:rPr dirty="0" spc="-55"/>
              <a:t>range</a:t>
            </a:r>
            <a:r>
              <a:rPr dirty="0" spc="-25"/>
              <a:t> </a:t>
            </a:r>
            <a:r>
              <a:rPr dirty="0" spc="-70"/>
              <a:t>[0,1]. </a:t>
            </a:r>
            <a:r>
              <a:rPr dirty="0" spc="-45"/>
              <a:t>Preserves </a:t>
            </a:r>
            <a:r>
              <a:rPr dirty="0" spc="-35"/>
              <a:t>relationships</a:t>
            </a:r>
            <a:r>
              <a:rPr dirty="0" spc="-40"/>
              <a:t> </a:t>
            </a:r>
            <a:r>
              <a:rPr dirty="0"/>
              <a:t>but</a:t>
            </a:r>
            <a:r>
              <a:rPr dirty="0" spc="-45"/>
              <a:t> </a:t>
            </a:r>
            <a:r>
              <a:rPr dirty="0"/>
              <a:t>not</a:t>
            </a:r>
            <a:r>
              <a:rPr dirty="0" spc="-45"/>
              <a:t> </a:t>
            </a:r>
            <a:r>
              <a:rPr dirty="0" spc="-10"/>
              <a:t>outliers.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pc="-20"/>
              <a:t>Use</a:t>
            </a:r>
            <a:r>
              <a:rPr dirty="0" spc="-60"/>
              <a:t> </a:t>
            </a:r>
            <a:r>
              <a:rPr dirty="0" spc="-55"/>
              <a:t>when</a:t>
            </a:r>
            <a:r>
              <a:rPr dirty="0" spc="-35"/>
              <a:t> </a:t>
            </a:r>
            <a:r>
              <a:rPr dirty="0" spc="-10"/>
              <a:t>the</a:t>
            </a:r>
            <a:r>
              <a:rPr dirty="0" spc="-45"/>
              <a:t> </a:t>
            </a:r>
            <a:r>
              <a:rPr dirty="0" spc="-20"/>
              <a:t>distribution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45"/>
              <a:t> </a:t>
            </a:r>
            <a:r>
              <a:rPr dirty="0"/>
              <a:t>not</a:t>
            </a:r>
            <a:r>
              <a:rPr dirty="0" spc="-50"/>
              <a:t> </a:t>
            </a:r>
            <a:r>
              <a:rPr dirty="0" spc="-10"/>
              <a:t>Gaussian.</a:t>
            </a: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41347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151379"/>
            <a:ext cx="65265" cy="6526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3" name="object 13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1960460" y="3135783"/>
            <a:ext cx="183896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Data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Transformation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Techniques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in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Machine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10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17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Types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 spc="-20"/>
              <a:t>Scaling</a:t>
            </a:r>
            <a:r>
              <a:rPr dirty="0" spc="-55"/>
              <a:t> </a:t>
            </a:r>
            <a:r>
              <a:rPr dirty="0" spc="-20"/>
              <a:t>(2/3)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950911"/>
            <a:ext cx="19126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latin typeface="Arial"/>
                <a:cs typeface="Arial"/>
              </a:rPr>
              <a:t>2.</a:t>
            </a:r>
            <a:r>
              <a:rPr dirty="0" sz="1100" spc="175" b="1">
                <a:latin typeface="Arial"/>
                <a:cs typeface="Arial"/>
              </a:rPr>
              <a:t> </a:t>
            </a:r>
            <a:r>
              <a:rPr dirty="0" sz="1100" spc="-35" b="1">
                <a:latin typeface="Arial"/>
                <a:cs typeface="Arial"/>
              </a:rPr>
              <a:t>Standard</a:t>
            </a:r>
            <a:r>
              <a:rPr dirty="0" sz="1100" spc="60" b="1">
                <a:latin typeface="Arial"/>
                <a:cs typeface="Arial"/>
              </a:rPr>
              <a:t> </a:t>
            </a:r>
            <a:r>
              <a:rPr dirty="0" sz="1100" spc="-45" b="1">
                <a:latin typeface="Arial"/>
                <a:cs typeface="Arial"/>
              </a:rPr>
              <a:t>Scaling</a:t>
            </a:r>
            <a:r>
              <a:rPr dirty="0" sz="1100" spc="60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(Z-</a:t>
            </a:r>
            <a:r>
              <a:rPr dirty="0" sz="1100" spc="-10" b="1">
                <a:latin typeface="Arial"/>
                <a:cs typeface="Arial"/>
              </a:rPr>
              <a:t>score)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63571" y="1210702"/>
            <a:ext cx="6007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10101" sz="1650" spc="-15" i="1">
                <a:latin typeface="Arial"/>
                <a:cs typeface="Arial"/>
              </a:rPr>
              <a:t>X</a:t>
            </a:r>
            <a:r>
              <a:rPr dirty="0" sz="800" spc="-10" i="1">
                <a:latin typeface="Trebuchet MS"/>
                <a:cs typeface="Trebuchet MS"/>
              </a:rPr>
              <a:t>scaled</a:t>
            </a:r>
            <a:r>
              <a:rPr dirty="0" sz="800" spc="95" i="1">
                <a:latin typeface="Trebuchet MS"/>
                <a:cs typeface="Trebuchet MS"/>
              </a:rPr>
              <a:t> </a:t>
            </a:r>
            <a:r>
              <a:rPr dirty="0" baseline="10101" sz="1650" spc="-75">
                <a:latin typeface="Tahoma"/>
                <a:cs typeface="Tahoma"/>
              </a:rPr>
              <a:t>=</a:t>
            </a:r>
            <a:endParaRPr baseline="10101" sz="165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66745" y="1094408"/>
            <a:ext cx="3892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70" i="1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−</a:t>
            </a:r>
            <a:r>
              <a:rPr dirty="0" sz="1100" spc="-70" i="1">
                <a:latin typeface="Arial"/>
                <a:cs typeface="Arial"/>
              </a:rPr>
              <a:t> </a:t>
            </a:r>
            <a:r>
              <a:rPr dirty="0" sz="1100" spc="-50" i="1">
                <a:latin typeface="Verdana"/>
                <a:cs typeface="Verdana"/>
              </a:rPr>
              <a:t>µ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2979445" y="1304747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 h="0">
                <a:moveTo>
                  <a:pt x="0" y="0"/>
                </a:moveTo>
                <a:lnTo>
                  <a:pt x="36370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3106521" y="1283168"/>
            <a:ext cx="1047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Verdana"/>
                <a:cs typeface="Verdana"/>
              </a:rPr>
              <a:t>σ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735937"/>
            <a:ext cx="65265" cy="65265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/>
              <a:t>Best</a:t>
            </a:r>
            <a:r>
              <a:rPr dirty="0" spc="-50"/>
              <a:t> </a:t>
            </a:r>
            <a:r>
              <a:rPr dirty="0" spc="-55"/>
              <a:t>when</a:t>
            </a:r>
            <a:r>
              <a:rPr dirty="0" spc="-35"/>
              <a:t> </a:t>
            </a:r>
            <a:r>
              <a:rPr dirty="0" spc="-10"/>
              <a:t>data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45"/>
              <a:t> </a:t>
            </a:r>
            <a:r>
              <a:rPr dirty="0" spc="-35"/>
              <a:t>normally</a:t>
            </a:r>
            <a:r>
              <a:rPr dirty="0" spc="-40"/>
              <a:t> </a:t>
            </a:r>
            <a:r>
              <a:rPr dirty="0" spc="-10"/>
              <a:t>distributed.</a:t>
            </a:r>
          </a:p>
          <a:p>
            <a:pPr marL="12700" marR="5080">
              <a:lnSpc>
                <a:spcPct val="125299"/>
              </a:lnSpc>
            </a:pPr>
            <a:r>
              <a:rPr dirty="0" spc="-20"/>
              <a:t>Makes</a:t>
            </a:r>
            <a:r>
              <a:rPr dirty="0" spc="-25"/>
              <a:t> </a:t>
            </a:r>
            <a:r>
              <a:rPr dirty="0" spc="-45"/>
              <a:t>comparison</a:t>
            </a:r>
            <a:r>
              <a:rPr dirty="0" spc="-20"/>
              <a:t> </a:t>
            </a:r>
            <a:r>
              <a:rPr dirty="0" spc="-70"/>
              <a:t>between</a:t>
            </a:r>
            <a:r>
              <a:rPr dirty="0" spc="-20"/>
              <a:t> </a:t>
            </a:r>
            <a:r>
              <a:rPr dirty="0" spc="-35"/>
              <a:t>different</a:t>
            </a:r>
            <a:r>
              <a:rPr dirty="0" spc="-20"/>
              <a:t> </a:t>
            </a:r>
            <a:r>
              <a:rPr dirty="0" spc="-45"/>
              <a:t>features</a:t>
            </a:r>
            <a:r>
              <a:rPr dirty="0" spc="-25"/>
              <a:t> </a:t>
            </a:r>
            <a:r>
              <a:rPr dirty="0" spc="-10"/>
              <a:t>fair. </a:t>
            </a:r>
            <a:r>
              <a:rPr dirty="0" spc="-25"/>
              <a:t>Suitable</a:t>
            </a:r>
            <a:r>
              <a:rPr dirty="0" spc="-20"/>
              <a:t> for</a:t>
            </a:r>
            <a:r>
              <a:rPr dirty="0" spc="-15"/>
              <a:t> </a:t>
            </a:r>
            <a:r>
              <a:rPr dirty="0" spc="-50"/>
              <a:t>distance-</a:t>
            </a:r>
            <a:r>
              <a:rPr dirty="0" spc="-40"/>
              <a:t>based</a:t>
            </a:r>
            <a:r>
              <a:rPr dirty="0" spc="-20"/>
              <a:t> </a:t>
            </a:r>
            <a:r>
              <a:rPr dirty="0" spc="-10"/>
              <a:t>models.</a:t>
            </a: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45970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156002"/>
            <a:ext cx="65265" cy="6526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3" name="object 13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1960460" y="3135783"/>
            <a:ext cx="183896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Data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Transformation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Techniques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in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Machine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10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17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Types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 spc="-20"/>
              <a:t>Scaling</a:t>
            </a:r>
            <a:r>
              <a:rPr dirty="0" spc="-55"/>
              <a:t> </a:t>
            </a:r>
            <a:r>
              <a:rPr dirty="0" spc="-20"/>
              <a:t>(3/3)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943214"/>
            <a:ext cx="11988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latin typeface="Arial"/>
                <a:cs typeface="Arial"/>
              </a:rPr>
              <a:t>3.</a:t>
            </a:r>
            <a:r>
              <a:rPr dirty="0" sz="1100" spc="170" b="1">
                <a:latin typeface="Arial"/>
                <a:cs typeface="Arial"/>
              </a:rPr>
              <a:t> </a:t>
            </a:r>
            <a:r>
              <a:rPr dirty="0" sz="1100" spc="-40" b="1">
                <a:latin typeface="Arial"/>
                <a:cs typeface="Arial"/>
              </a:rPr>
              <a:t>Robust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 spc="-45" b="1">
                <a:latin typeface="Arial"/>
                <a:cs typeface="Arial"/>
              </a:rPr>
              <a:t>Scaling: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19261" y="1172741"/>
            <a:ext cx="118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411615" y="1232635"/>
            <a:ext cx="30734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i="1">
                <a:latin typeface="Trebuchet MS"/>
                <a:cs typeface="Trebuchet MS"/>
              </a:rPr>
              <a:t>robust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719832" y="1079016"/>
            <a:ext cx="731520" cy="285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99390">
              <a:lnSpc>
                <a:spcPts val="1030"/>
              </a:lnSpc>
              <a:spcBef>
                <a:spcPts val="90"/>
              </a:spcBef>
            </a:pPr>
            <a:r>
              <a:rPr dirty="0" u="sng" sz="11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dirty="0" u="sng" sz="1100" spc="7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 spc="2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−</a:t>
            </a:r>
            <a:r>
              <a:rPr dirty="0" u="sng" sz="1100" spc="-7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</a:t>
            </a:r>
            <a:r>
              <a:rPr dirty="0" u="sng" baseline="-10416" sz="1200" spc="-37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2</a:t>
            </a:r>
            <a:r>
              <a:rPr dirty="0" u="sng" baseline="-10416" sz="1200" spc="75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endParaRPr baseline="-10416" sz="1200">
              <a:latin typeface="Arial MT"/>
              <a:cs typeface="Arial MT"/>
            </a:endParaRPr>
          </a:p>
          <a:p>
            <a:pPr marL="38100">
              <a:lnSpc>
                <a:spcPts val="1030"/>
              </a:lnSpc>
            </a:pP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81261" y="1267776"/>
            <a:ext cx="5638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Q</a:t>
            </a:r>
            <a:r>
              <a:rPr dirty="0" baseline="-10416" sz="1200">
                <a:latin typeface="Arial MT"/>
                <a:cs typeface="Arial MT"/>
              </a:rPr>
              <a:t>3</a:t>
            </a:r>
            <a:r>
              <a:rPr dirty="0" baseline="-10416" sz="1200" spc="7">
                <a:latin typeface="Arial MT"/>
                <a:cs typeface="Arial MT"/>
              </a:rPr>
              <a:t> </a:t>
            </a:r>
            <a:r>
              <a:rPr dirty="0" sz="1100" spc="200" i="1">
                <a:latin typeface="Arial"/>
                <a:cs typeface="Arial"/>
              </a:rPr>
              <a:t>−</a:t>
            </a:r>
            <a:r>
              <a:rPr dirty="0" sz="1100" spc="-75" i="1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Q</a:t>
            </a:r>
            <a:r>
              <a:rPr dirty="0" baseline="-10416" sz="1200" spc="-37">
                <a:latin typeface="Arial MT"/>
                <a:cs typeface="Arial MT"/>
              </a:rPr>
              <a:t>1</a:t>
            </a:r>
            <a:endParaRPr baseline="-10416" sz="1200">
              <a:latin typeface="Arial MT"/>
              <a:cs typeface="Arial M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720532"/>
            <a:ext cx="65265" cy="6526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77532" y="1593314"/>
            <a:ext cx="4119245" cy="655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1546225">
              <a:lnSpc>
                <a:spcPct val="125299"/>
              </a:lnSpc>
              <a:spcBef>
                <a:spcPts val="100"/>
              </a:spcBef>
            </a:pPr>
            <a:r>
              <a:rPr dirty="0" sz="1100" spc="-25">
                <a:latin typeface="Tahoma"/>
                <a:cs typeface="Tahoma"/>
              </a:rPr>
              <a:t>Based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median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Q</a:t>
            </a:r>
            <a:r>
              <a:rPr dirty="0" baseline="-10416" sz="1200">
                <a:latin typeface="Arial MT"/>
                <a:cs typeface="Arial MT"/>
              </a:rPr>
              <a:t>2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IQR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Q</a:t>
            </a:r>
            <a:r>
              <a:rPr dirty="0" baseline="-10416" sz="1200">
                <a:latin typeface="Arial MT"/>
                <a:cs typeface="Arial MT"/>
              </a:rPr>
              <a:t>3</a:t>
            </a:r>
            <a:r>
              <a:rPr dirty="0" baseline="-10416" sz="1200" spc="30">
                <a:latin typeface="Arial MT"/>
                <a:cs typeface="Arial MT"/>
              </a:rPr>
              <a:t> </a:t>
            </a:r>
            <a:r>
              <a:rPr dirty="0" sz="1100" spc="200" i="1">
                <a:latin typeface="Arial"/>
                <a:cs typeface="Arial"/>
              </a:rPr>
              <a:t>−</a:t>
            </a:r>
            <a:r>
              <a:rPr dirty="0" sz="1100" spc="-75" i="1">
                <a:latin typeface="Arial"/>
                <a:cs typeface="Arial"/>
              </a:rPr>
              <a:t> </a:t>
            </a:r>
            <a:r>
              <a:rPr dirty="0" sz="1100" spc="-20" i="1">
                <a:latin typeface="Arial"/>
                <a:cs typeface="Arial"/>
              </a:rPr>
              <a:t>Q</a:t>
            </a:r>
            <a:r>
              <a:rPr dirty="0" baseline="-10416" sz="1200" spc="-30">
                <a:latin typeface="Arial MT"/>
                <a:cs typeface="Arial MT"/>
              </a:rPr>
              <a:t>1</a:t>
            </a:r>
            <a:r>
              <a:rPr dirty="0" sz="1100" spc="-20">
                <a:latin typeface="Tahoma"/>
                <a:cs typeface="Tahoma"/>
              </a:rPr>
              <a:t>). </a:t>
            </a:r>
            <a:r>
              <a:rPr dirty="0" sz="1100" spc="-45">
                <a:latin typeface="Tahoma"/>
                <a:cs typeface="Tahoma"/>
              </a:rPr>
              <a:t>Less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sensitive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outliers.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dirty="0" sz="1100" spc="-20">
                <a:latin typeface="Tahoma"/>
                <a:cs typeface="Tahoma"/>
              </a:rPr>
              <a:t>Use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when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contains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extreme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values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not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normally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distributed.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30565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140597"/>
            <a:ext cx="65265" cy="6526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3" name="object 13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1960460" y="3135783"/>
            <a:ext cx="183896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Data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Transformation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Techniques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in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Machine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10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17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59877"/>
            <a:ext cx="118554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45">
                <a:solidFill>
                  <a:srgbClr val="FFFFFF"/>
                </a:solidFill>
                <a:latin typeface="Tahoma"/>
                <a:cs typeface="Tahoma"/>
              </a:rPr>
              <a:t>Summary</a:t>
            </a:r>
            <a:r>
              <a:rPr dirty="0" sz="140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Table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36017" y="982459"/>
          <a:ext cx="4651375" cy="1210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5365"/>
                <a:gridCol w="909955"/>
                <a:gridCol w="1110614"/>
                <a:gridCol w="1534794"/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Technique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Input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Output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dirty="0" sz="1100" spc="-20">
                          <a:latin typeface="Tahoma"/>
                          <a:cs typeface="Tahoma"/>
                        </a:rPr>
                        <a:t>Use</a:t>
                      </a:r>
                      <a:r>
                        <a:rPr dirty="0" sz="1100" spc="-6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20">
                          <a:latin typeface="Tahoma"/>
                          <a:cs typeface="Tahoma"/>
                        </a:rPr>
                        <a:t>Case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Mapping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Categorical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Numeric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Tahoma"/>
                          <a:cs typeface="Tahoma"/>
                        </a:rPr>
                        <a:t>Encode</a:t>
                      </a:r>
                      <a:r>
                        <a:rPr dirty="0" sz="110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labels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Quantization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Continuous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25">
                          <a:latin typeface="Tahoma"/>
                          <a:cs typeface="Tahoma"/>
                        </a:rPr>
                        <a:t>Discrete</a:t>
                      </a:r>
                      <a:r>
                        <a:rPr dirty="0" sz="11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20">
                          <a:latin typeface="Tahoma"/>
                          <a:cs typeface="Tahoma"/>
                        </a:rPr>
                        <a:t>bins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Simplify</a:t>
                      </a:r>
                      <a:r>
                        <a:rPr dirty="0" sz="1100" spc="-6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ranges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Binarization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Numeric/Cat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Binary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50">
                          <a:latin typeface="Tahoma"/>
                          <a:cs typeface="Tahoma"/>
                        </a:rPr>
                        <a:t>Threshold-</a:t>
                      </a:r>
                      <a:r>
                        <a:rPr dirty="0" sz="1100" spc="-40">
                          <a:latin typeface="Tahoma"/>
                          <a:cs typeface="Tahoma"/>
                        </a:rPr>
                        <a:t>based</a:t>
                      </a:r>
                      <a:r>
                        <a:rPr dirty="0" sz="1100" spc="7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flags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Normalization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Continuous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70">
                          <a:latin typeface="Tahoma"/>
                          <a:cs typeface="Tahoma"/>
                        </a:rPr>
                        <a:t>[0,1]</a:t>
                      </a:r>
                      <a:r>
                        <a:rPr dirty="0" sz="11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20">
                          <a:latin typeface="Tahoma"/>
                          <a:cs typeface="Tahoma"/>
                        </a:rPr>
                        <a:t>range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45">
                          <a:latin typeface="Tahoma"/>
                          <a:cs typeface="Tahoma"/>
                        </a:rPr>
                        <a:t>Compare</a:t>
                      </a:r>
                      <a:r>
                        <a:rPr dirty="0" sz="11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40">
                          <a:latin typeface="Tahoma"/>
                          <a:cs typeface="Tahoma"/>
                        </a:rPr>
                        <a:t>feature</a:t>
                      </a:r>
                      <a:r>
                        <a:rPr dirty="0" sz="1100" spc="-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values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Scaling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Continuous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Mean=0,</a:t>
                      </a:r>
                      <a:r>
                        <a:rPr dirty="0" sz="1100" spc="-4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Std=1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100" spc="-6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35">
                          <a:latin typeface="Tahoma"/>
                          <a:cs typeface="Tahoma"/>
                        </a:rPr>
                        <a:t>normal</a:t>
                      </a:r>
                      <a:r>
                        <a:rPr dirty="0" sz="1100" spc="-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distributions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25">
                          <a:latin typeface="Tahoma"/>
                          <a:cs typeface="Tahoma"/>
                        </a:rPr>
                        <a:t>Robust</a:t>
                      </a:r>
                      <a:r>
                        <a:rPr dirty="0" sz="110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Scaling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Continuous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 spc="-45">
                          <a:latin typeface="Tahoma"/>
                          <a:cs typeface="Tahoma"/>
                        </a:rPr>
                        <a:t>Median-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centered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dirty="0" sz="1100">
                          <a:latin typeface="Tahoma"/>
                          <a:cs typeface="Tahoma"/>
                        </a:rPr>
                        <a:t>Outlier</a:t>
                      </a:r>
                      <a:r>
                        <a:rPr dirty="0" sz="1100" spc="-8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resistance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960460" y="3135783"/>
            <a:ext cx="183896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Transformation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Techniques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Machine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10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17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Practice</a:t>
            </a:r>
            <a:r>
              <a:rPr dirty="0" spc="-25"/>
              <a:t> Problems </a:t>
            </a:r>
            <a:r>
              <a:rPr dirty="0"/>
              <a:t>(1/3)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-25"/>
              <a:t> </a:t>
            </a:r>
            <a:r>
              <a:rPr dirty="0" spc="-30"/>
              <a:t>Conceptual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37285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853832"/>
            <a:ext cx="5107940" cy="158623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dirty="0" sz="1100">
                <a:latin typeface="Tahoma"/>
                <a:cs typeface="Tahoma"/>
              </a:rPr>
              <a:t>Q1:</a:t>
            </a:r>
            <a:r>
              <a:rPr dirty="0" sz="1100" spc="7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Why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important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normalize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scale </a:t>
            </a:r>
            <a:r>
              <a:rPr dirty="0" sz="1100" spc="-10">
                <a:latin typeface="Tahoma"/>
                <a:cs typeface="Tahoma"/>
              </a:rPr>
              <a:t>data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before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using algorithms </a:t>
            </a:r>
            <a:r>
              <a:rPr dirty="0" sz="1100" spc="-10">
                <a:latin typeface="Tahoma"/>
                <a:cs typeface="Tahoma"/>
              </a:rPr>
              <a:t>like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50">
                <a:latin typeface="Tahoma"/>
                <a:cs typeface="Tahoma"/>
              </a:rPr>
              <a:t>KNN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or </a:t>
            </a:r>
            <a:r>
              <a:rPr dirty="0" sz="1100" spc="-20">
                <a:latin typeface="Tahoma"/>
                <a:cs typeface="Tahoma"/>
              </a:rPr>
              <a:t>SVM?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100">
                <a:latin typeface="Tahoma"/>
                <a:cs typeface="Tahoma"/>
              </a:rPr>
              <a:t>Q2:</a:t>
            </a:r>
            <a:r>
              <a:rPr dirty="0" sz="1100" spc="6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Give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one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scenario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where</a:t>
            </a:r>
            <a:r>
              <a:rPr dirty="0" sz="1100" spc="-25">
                <a:latin typeface="Tahoma"/>
                <a:cs typeface="Tahoma"/>
              </a:rPr>
              <a:t> quantization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might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reduce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model </a:t>
            </a:r>
            <a:r>
              <a:rPr dirty="0" sz="1100" spc="-10">
                <a:latin typeface="Tahoma"/>
                <a:cs typeface="Tahoma"/>
              </a:rPr>
              <a:t>performance.</a:t>
            </a:r>
            <a:endParaRPr sz="1100">
              <a:latin typeface="Tahoma"/>
              <a:cs typeface="Tahoma"/>
            </a:endParaRPr>
          </a:p>
          <a:p>
            <a:pPr marL="12700" marR="46990">
              <a:lnSpc>
                <a:spcPct val="102600"/>
              </a:lnSpc>
              <a:spcBef>
                <a:spcPts val="295"/>
              </a:spcBef>
            </a:pPr>
            <a:r>
              <a:rPr dirty="0" sz="1100">
                <a:latin typeface="Tahoma"/>
                <a:cs typeface="Tahoma"/>
              </a:rPr>
              <a:t>Q3: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What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could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problem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40">
                <a:latin typeface="Tahoma"/>
                <a:cs typeface="Tahoma"/>
              </a:rPr>
              <a:t> mapping </a:t>
            </a:r>
            <a:r>
              <a:rPr dirty="0" sz="1100" spc="-35">
                <a:latin typeface="Tahoma"/>
                <a:cs typeface="Tahoma"/>
              </a:rPr>
              <a:t>categorical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features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30">
                <a:latin typeface="Tahoma"/>
                <a:cs typeface="Tahoma"/>
              </a:rPr>
              <a:t> nominal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(like </a:t>
            </a:r>
            <a:r>
              <a:rPr dirty="0" sz="1100">
                <a:latin typeface="Tahoma"/>
                <a:cs typeface="Tahoma"/>
              </a:rPr>
              <a:t>city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names)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into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numeric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values?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latin typeface="Tahoma"/>
                <a:cs typeface="Tahoma"/>
              </a:rPr>
              <a:t>Q4: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How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scaling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improve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model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convergence?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latin typeface="Tahoma"/>
                <a:cs typeface="Tahoma"/>
              </a:rPr>
              <a:t>Q5: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Why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robust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scaling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preferred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40">
                <a:latin typeface="Tahoma"/>
                <a:cs typeface="Tahoma"/>
              </a:rPr>
              <a:t> datasets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outliers?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100">
                <a:latin typeface="Tahoma"/>
                <a:cs typeface="Tahoma"/>
              </a:rPr>
              <a:t>Q6: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Can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normalization</a:t>
            </a:r>
            <a:r>
              <a:rPr dirty="0" sz="1100" spc="-35">
                <a:latin typeface="Tahoma"/>
                <a:cs typeface="Tahoma"/>
              </a:rPr>
              <a:t> and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standardization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used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together?</a:t>
            </a:r>
            <a:r>
              <a:rPr dirty="0" sz="1100" spc="6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so, </a:t>
            </a:r>
            <a:r>
              <a:rPr dirty="0" sz="1100" spc="-10">
                <a:latin typeface="Tahoma"/>
                <a:cs typeface="Tahoma"/>
              </a:rPr>
              <a:t>when?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19390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29422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11527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121560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331592"/>
            <a:ext cx="65265" cy="65265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1" name="object 11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1960460" y="3135783"/>
            <a:ext cx="183896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Data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Transformation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Techniques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in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Machine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10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17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Practice</a:t>
            </a:r>
            <a:r>
              <a:rPr dirty="0" spc="-40"/>
              <a:t> </a:t>
            </a:r>
            <a:r>
              <a:rPr dirty="0" spc="-25"/>
              <a:t>Problems</a:t>
            </a:r>
            <a:r>
              <a:rPr dirty="0" spc="-40"/>
              <a:t> </a:t>
            </a:r>
            <a:r>
              <a:rPr dirty="0"/>
              <a:t>(2/3)</a:t>
            </a:r>
            <a:r>
              <a:rPr dirty="0" spc="-40"/>
              <a:t> </a:t>
            </a:r>
            <a:r>
              <a:rPr dirty="0"/>
              <a:t>–</a:t>
            </a:r>
            <a:r>
              <a:rPr dirty="0" spc="-40"/>
              <a:t> </a:t>
            </a:r>
            <a:r>
              <a:rPr dirty="0" spc="-45"/>
              <a:t>Identify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40"/>
              <a:t> Technique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30796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647343"/>
            <a:ext cx="5202555" cy="210248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1183640">
              <a:lnSpc>
                <a:spcPct val="102699"/>
              </a:lnSpc>
              <a:spcBef>
                <a:spcPts val="55"/>
              </a:spcBef>
            </a:pPr>
            <a:r>
              <a:rPr dirty="0" sz="1100">
                <a:latin typeface="Tahoma"/>
                <a:cs typeface="Tahoma"/>
              </a:rPr>
              <a:t>Q7: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You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have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column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age</a:t>
            </a:r>
            <a:r>
              <a:rPr dirty="0" sz="1100" spc="-30">
                <a:latin typeface="Tahoma"/>
                <a:cs typeface="Tahoma"/>
              </a:rPr>
              <a:t> values.</a:t>
            </a:r>
            <a:r>
              <a:rPr dirty="0" sz="1100" spc="6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You</a:t>
            </a:r>
            <a:r>
              <a:rPr dirty="0" sz="1100" spc="-35">
                <a:latin typeface="Tahoma"/>
                <a:cs typeface="Tahoma"/>
              </a:rPr>
              <a:t> want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convert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into child/teen/adult/senior.</a:t>
            </a:r>
            <a:r>
              <a:rPr dirty="0" sz="1100" spc="1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What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technique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 </a:t>
            </a:r>
            <a:r>
              <a:rPr dirty="0" sz="1100" spc="-45">
                <a:latin typeface="Tahoma"/>
                <a:cs typeface="Tahoma"/>
              </a:rPr>
              <a:t>you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use?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Tahoma"/>
                <a:cs typeface="Tahoma"/>
              </a:rPr>
              <a:t>Q8: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You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working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binary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classification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model.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Income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above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40k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classified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as </a:t>
            </a:r>
            <a:r>
              <a:rPr dirty="0" sz="1100" spc="-20">
                <a:latin typeface="Tahoma"/>
                <a:cs typeface="Tahoma"/>
              </a:rPr>
              <a:t>high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income.</a:t>
            </a:r>
            <a:r>
              <a:rPr dirty="0" sz="1100" spc="7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What</a:t>
            </a:r>
            <a:r>
              <a:rPr dirty="0" sz="1100" spc="-40">
                <a:latin typeface="Tahoma"/>
                <a:cs typeface="Tahoma"/>
              </a:rPr>
              <a:t> transformation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suits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this?</a:t>
            </a:r>
            <a:endParaRPr sz="1100">
              <a:latin typeface="Tahoma"/>
              <a:cs typeface="Tahoma"/>
            </a:endParaRPr>
          </a:p>
          <a:p>
            <a:pPr marL="12700" marR="92075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Tahoma"/>
                <a:cs typeface="Tahoma"/>
              </a:rPr>
              <a:t>Q9: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You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have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column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height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cm.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You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want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all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values </a:t>
            </a:r>
            <a:r>
              <a:rPr dirty="0" sz="1100" spc="-70">
                <a:latin typeface="Tahoma"/>
                <a:cs typeface="Tahoma"/>
              </a:rPr>
              <a:t>between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0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1.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What </a:t>
            </a:r>
            <a:r>
              <a:rPr dirty="0" sz="1100" spc="-45">
                <a:latin typeface="Tahoma"/>
                <a:cs typeface="Tahoma"/>
              </a:rPr>
              <a:t>should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you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apply?</a:t>
            </a:r>
            <a:endParaRPr sz="1100">
              <a:latin typeface="Tahoma"/>
              <a:cs typeface="Tahoma"/>
            </a:endParaRPr>
          </a:p>
          <a:p>
            <a:pPr marL="12700" marR="810260">
              <a:lnSpc>
                <a:spcPct val="102600"/>
              </a:lnSpc>
              <a:spcBef>
                <a:spcPts val="295"/>
              </a:spcBef>
            </a:pPr>
            <a:r>
              <a:rPr dirty="0" sz="1100" spc="-10">
                <a:latin typeface="Tahoma"/>
                <a:cs typeface="Tahoma"/>
              </a:rPr>
              <a:t>Q10: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You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want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convert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’education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level’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strings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integers.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Which </a:t>
            </a:r>
            <a:r>
              <a:rPr dirty="0" sz="1100" spc="-40">
                <a:latin typeface="Tahoma"/>
                <a:cs typeface="Tahoma"/>
              </a:rPr>
              <a:t>transformation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applies?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 spc="-10">
                <a:latin typeface="Tahoma"/>
                <a:cs typeface="Tahoma"/>
              </a:rPr>
              <a:t>Q11: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When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should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you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prefer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robust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scaling </a:t>
            </a:r>
            <a:r>
              <a:rPr dirty="0" sz="1100" spc="-50">
                <a:latin typeface="Tahoma"/>
                <a:cs typeface="Tahoma"/>
              </a:rPr>
              <a:t>over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standard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scaling?</a:t>
            </a:r>
            <a:endParaRPr sz="1100">
              <a:latin typeface="Tahoma"/>
              <a:cs typeface="Tahoma"/>
            </a:endParaRPr>
          </a:p>
          <a:p>
            <a:pPr marL="12700" marR="325120">
              <a:lnSpc>
                <a:spcPct val="102600"/>
              </a:lnSpc>
              <a:spcBef>
                <a:spcPts val="300"/>
              </a:spcBef>
            </a:pPr>
            <a:r>
              <a:rPr dirty="0" sz="1100" spc="-10">
                <a:latin typeface="Tahoma"/>
                <a:cs typeface="Tahoma"/>
              </a:rPr>
              <a:t>Q12:</a:t>
            </a:r>
            <a:r>
              <a:rPr dirty="0" sz="1100" spc="7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What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transformation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would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you</a:t>
            </a:r>
            <a:r>
              <a:rPr dirty="0" sz="1100" spc="-30">
                <a:latin typeface="Tahoma"/>
                <a:cs typeface="Tahoma"/>
              </a:rPr>
              <a:t> apply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make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sure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no</a:t>
            </a:r>
            <a:r>
              <a:rPr dirty="0" sz="1100" spc="-35">
                <a:latin typeface="Tahoma"/>
                <a:cs typeface="Tahoma"/>
              </a:rPr>
              <a:t> feature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dominates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 </a:t>
            </a:r>
            <a:r>
              <a:rPr dirty="0" sz="1100" spc="-35">
                <a:latin typeface="Tahoma"/>
                <a:cs typeface="Tahoma"/>
              </a:rPr>
              <a:t>clustering</a:t>
            </a:r>
            <a:r>
              <a:rPr dirty="0" sz="1100" spc="-10">
                <a:latin typeface="Tahoma"/>
                <a:cs typeface="Tahoma"/>
              </a:rPr>
              <a:t> model?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12900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95005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77123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259228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469260"/>
            <a:ext cx="65265" cy="65265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1" name="object 11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1960460" y="3135783"/>
            <a:ext cx="183896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Data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Transformation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Techniques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in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Machine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10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17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Practice</a:t>
            </a:r>
            <a:r>
              <a:rPr dirty="0" spc="-35"/>
              <a:t> </a:t>
            </a:r>
            <a:r>
              <a:rPr dirty="0" spc="-25"/>
              <a:t>Problems</a:t>
            </a:r>
            <a:r>
              <a:rPr dirty="0" spc="-35"/>
              <a:t> </a:t>
            </a:r>
            <a:r>
              <a:rPr dirty="0"/>
              <a:t>(3/3)</a:t>
            </a:r>
            <a:r>
              <a:rPr dirty="0" spc="-30"/>
              <a:t> </a:t>
            </a:r>
            <a:r>
              <a:rPr dirty="0"/>
              <a:t>–</a:t>
            </a:r>
            <a:r>
              <a:rPr dirty="0" spc="-35"/>
              <a:t> </a:t>
            </a:r>
            <a:r>
              <a:rPr dirty="0" spc="-10"/>
              <a:t>Coding</a:t>
            </a:r>
            <a:r>
              <a:rPr dirty="0" spc="-35"/>
              <a:t> Challenge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06119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922666"/>
            <a:ext cx="5232400" cy="141414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10">
                <a:latin typeface="Tahoma"/>
                <a:cs typeface="Tahoma"/>
              </a:rPr>
              <a:t>Q13:</a:t>
            </a:r>
            <a:r>
              <a:rPr dirty="0" sz="1100" spc="7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Given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dataset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column </a:t>
            </a:r>
            <a:r>
              <a:rPr dirty="0" sz="1100" spc="-20">
                <a:latin typeface="Tahoma"/>
                <a:cs typeface="Tahoma"/>
              </a:rPr>
              <a:t>’education’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[’High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School’,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’Bachelor’,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’Master’], </a:t>
            </a:r>
            <a:r>
              <a:rPr dirty="0" sz="1100" spc="-20">
                <a:latin typeface="Tahoma"/>
                <a:cs typeface="Tahoma"/>
              </a:rPr>
              <a:t>write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Python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code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map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[1,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2,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3].</a:t>
            </a:r>
            <a:endParaRPr sz="1100">
              <a:latin typeface="Tahoma"/>
              <a:cs typeface="Tahoma"/>
            </a:endParaRPr>
          </a:p>
          <a:p>
            <a:pPr marL="12700" marR="723265">
              <a:lnSpc>
                <a:spcPct val="125299"/>
              </a:lnSpc>
            </a:pPr>
            <a:r>
              <a:rPr dirty="0" sz="1100" spc="-10">
                <a:latin typeface="Tahoma"/>
                <a:cs typeface="Tahoma"/>
              </a:rPr>
              <a:t>Q14: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Normalize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list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values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[10,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20,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30,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40]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using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min-</a:t>
            </a:r>
            <a:r>
              <a:rPr dirty="0" sz="1100" spc="-30">
                <a:latin typeface="Tahoma"/>
                <a:cs typeface="Tahoma"/>
              </a:rPr>
              <a:t>max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normalization. </a:t>
            </a:r>
            <a:r>
              <a:rPr dirty="0" sz="1100" spc="-10">
                <a:latin typeface="Tahoma"/>
                <a:cs typeface="Tahoma"/>
              </a:rPr>
              <a:t>Q15: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Use</a:t>
            </a:r>
            <a:r>
              <a:rPr dirty="0" sz="1100" spc="-45">
                <a:latin typeface="Tahoma"/>
                <a:cs typeface="Tahoma"/>
              </a:rPr>
              <a:t> sklearn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standardize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list</a:t>
            </a:r>
            <a:r>
              <a:rPr dirty="0" sz="1100" spc="-50">
                <a:latin typeface="Tahoma"/>
                <a:cs typeface="Tahoma"/>
              </a:rPr>
              <a:t> [5,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10,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15].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 spc="-10">
                <a:latin typeface="Tahoma"/>
                <a:cs typeface="Tahoma"/>
              </a:rPr>
              <a:t>Q16: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Apply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robust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scaling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list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[1,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100, </a:t>
            </a:r>
            <a:r>
              <a:rPr dirty="0" sz="1100">
                <a:latin typeface="Tahoma"/>
                <a:cs typeface="Tahoma"/>
              </a:rPr>
              <a:t>3,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2,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5,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1000].</a:t>
            </a:r>
            <a:endParaRPr sz="1100">
              <a:latin typeface="Tahoma"/>
              <a:cs typeface="Tahoma"/>
            </a:endParaRPr>
          </a:p>
          <a:p>
            <a:pPr marL="12700" marR="891540">
              <a:lnSpc>
                <a:spcPct val="125299"/>
              </a:lnSpc>
            </a:pPr>
            <a:r>
              <a:rPr dirty="0" sz="1100" spc="-10">
                <a:latin typeface="Tahoma"/>
                <a:cs typeface="Tahoma"/>
              </a:rPr>
              <a:t>Q17: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Use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pandas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binarize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’score’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column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threshold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50.</a:t>
            </a:r>
            <a:r>
              <a:rPr dirty="0" sz="1100" spc="50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Q18:</a:t>
            </a:r>
            <a:r>
              <a:rPr dirty="0" sz="1100" spc="7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Write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function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quantize </a:t>
            </a:r>
            <a:r>
              <a:rPr dirty="0" sz="1100" spc="-40">
                <a:latin typeface="Tahoma"/>
                <a:cs typeface="Tahoma"/>
              </a:rPr>
              <a:t>temperature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’Cold’,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’Warm’,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’Hot’.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88224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98256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08289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018321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228354"/>
            <a:ext cx="65265" cy="65265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1" name="object 11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Nafiz</a:t>
            </a:r>
            <a:r>
              <a:rPr dirty="0" spc="50"/>
              <a:t> </a:t>
            </a:r>
            <a:r>
              <a:rPr dirty="0"/>
              <a:t>Imtiaz</a:t>
            </a:r>
            <a:r>
              <a:rPr dirty="0" spc="55"/>
              <a:t> </a:t>
            </a:r>
            <a:r>
              <a:rPr dirty="0" spc="-10"/>
              <a:t>Rafin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1960460" y="3135783"/>
            <a:ext cx="183896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Data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Transformation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Techniques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in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Machine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Summer</a:t>
            </a:r>
            <a:r>
              <a:rPr dirty="0" spc="10"/>
              <a:t> </a:t>
            </a:r>
            <a:r>
              <a:rPr dirty="0" spc="-20"/>
              <a:t>2025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10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17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Nafiz Imtiaz Rafin</dc:creator>
  <dc:title>Data Transformation Techniques in Machine Learning</dc:title>
  <dcterms:created xsi:type="dcterms:W3CDTF">2025-06-26T06:30:15Z</dcterms:created>
  <dcterms:modified xsi:type="dcterms:W3CDTF">2025-06-26T06:30:15Z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2025-06-26T00:00:00Z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2025-06-26T00:00:00Z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pdfTeX-1.40.26</vt:lpwstr>
  </property>
</Properties>
</file>